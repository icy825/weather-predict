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80" r:id="rId4"/>
    <p:sldId id="260" r:id="rId5"/>
    <p:sldId id="261" r:id="rId6"/>
    <p:sldId id="281" r:id="rId7"/>
    <p:sldId id="282" r:id="rId8"/>
    <p:sldId id="287" r:id="rId9"/>
    <p:sldId id="288" r:id="rId10"/>
    <p:sldId id="289" r:id="rId11"/>
    <p:sldId id="265" r:id="rId12"/>
    <p:sldId id="291" r:id="rId13"/>
    <p:sldId id="294" r:id="rId14"/>
    <p:sldId id="295" r:id="rId15"/>
    <p:sldId id="296"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96" autoAdjust="0"/>
    <p:restoredTop sz="94673"/>
  </p:normalViewPr>
  <p:slideViewPr>
    <p:cSldViewPr snapToGrid="0">
      <p:cViewPr varScale="1">
        <p:scale>
          <a:sx n="90" d="100"/>
          <a:sy n="90" d="100"/>
        </p:scale>
        <p:origin x="6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74FC5-8471-4ADC-977E-78180B9BAFA2}"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09C700-38C6-4698-AFF5-0F8E8BB009A6}" type="slidenum">
              <a:rPr lang="en-US" smtClean="0"/>
              <a:t>‹#›</a:t>
            </a:fld>
            <a:endParaRPr lang="en-US"/>
          </a:p>
        </p:txBody>
      </p:sp>
    </p:spTree>
    <p:extLst>
      <p:ext uri="{BB962C8B-B14F-4D97-AF65-F5344CB8AC3E}">
        <p14:creationId xmlns:p14="http://schemas.microsoft.com/office/powerpoint/2010/main" val="192434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7" name="Google Shape;257;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DF42091-1AEA-ED5D-208B-7813857DF853}"/>
            </a:ext>
          </a:extLst>
        </p:cNvPr>
        <p:cNvGrpSpPr/>
        <p:nvPr/>
      </p:nvGrpSpPr>
      <p:grpSpPr>
        <a:xfrm>
          <a:off x="0" y="0"/>
          <a:ext cx="0" cy="0"/>
          <a:chOff x="0" y="0"/>
          <a:chExt cx="0" cy="0"/>
        </a:xfrm>
      </p:grpSpPr>
      <p:sp>
        <p:nvSpPr>
          <p:cNvPr id="265" name="Google Shape;265;p3:notes">
            <a:extLst>
              <a:ext uri="{FF2B5EF4-FFF2-40B4-BE49-F238E27FC236}">
                <a16:creationId xmlns:a16="http://schemas.microsoft.com/office/drawing/2014/main" id="{4A0DF8D8-6A32-1105-C882-4800E4FAC0CD}"/>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6" name="Google Shape;266;p3:notes">
            <a:extLst>
              <a:ext uri="{FF2B5EF4-FFF2-40B4-BE49-F238E27FC236}">
                <a16:creationId xmlns:a16="http://schemas.microsoft.com/office/drawing/2014/main" id="{F168AE35-5C2C-CA54-368B-70D36F3355B2}"/>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6068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6" name="Google Shape;286;p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 name="Google Shape;297;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EBD4554B-BC65-86ED-2124-9B08A85A7571}"/>
            </a:ext>
          </a:extLst>
        </p:cNvPr>
        <p:cNvGrpSpPr/>
        <p:nvPr/>
      </p:nvGrpSpPr>
      <p:grpSpPr>
        <a:xfrm>
          <a:off x="0" y="0"/>
          <a:ext cx="0" cy="0"/>
          <a:chOff x="0" y="0"/>
          <a:chExt cx="0" cy="0"/>
        </a:xfrm>
      </p:grpSpPr>
      <p:sp>
        <p:nvSpPr>
          <p:cNvPr id="296" name="Google Shape;296;p6:notes">
            <a:extLst>
              <a:ext uri="{FF2B5EF4-FFF2-40B4-BE49-F238E27FC236}">
                <a16:creationId xmlns:a16="http://schemas.microsoft.com/office/drawing/2014/main" id="{44CE5851-9735-50C2-474F-4CDB81B61E37}"/>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 name="Google Shape;297;p6:notes">
            <a:extLst>
              <a:ext uri="{FF2B5EF4-FFF2-40B4-BE49-F238E27FC236}">
                <a16:creationId xmlns:a16="http://schemas.microsoft.com/office/drawing/2014/main" id="{4B3BF379-A008-914A-6B4A-085AC6916447}"/>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477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32469E5E-E2E2-91C5-E3BC-88E0D6C01F63}"/>
            </a:ext>
          </a:extLst>
        </p:cNvPr>
        <p:cNvGrpSpPr/>
        <p:nvPr/>
      </p:nvGrpSpPr>
      <p:grpSpPr>
        <a:xfrm>
          <a:off x="0" y="0"/>
          <a:ext cx="0" cy="0"/>
          <a:chOff x="0" y="0"/>
          <a:chExt cx="0" cy="0"/>
        </a:xfrm>
      </p:grpSpPr>
      <p:sp>
        <p:nvSpPr>
          <p:cNvPr id="296" name="Google Shape;296;p6:notes">
            <a:extLst>
              <a:ext uri="{FF2B5EF4-FFF2-40B4-BE49-F238E27FC236}">
                <a16:creationId xmlns:a16="http://schemas.microsoft.com/office/drawing/2014/main" id="{0F655083-413A-439C-DF9F-DDD69AD5B27C}"/>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 name="Google Shape;297;p6:notes">
            <a:extLst>
              <a:ext uri="{FF2B5EF4-FFF2-40B4-BE49-F238E27FC236}">
                <a16:creationId xmlns:a16="http://schemas.microsoft.com/office/drawing/2014/main" id="{03D0C837-80FD-AAAE-2944-9DFCDC55F162}"/>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4808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A5CADDCE-7E80-318D-765B-10ACA4624258}"/>
            </a:ext>
          </a:extLst>
        </p:cNvPr>
        <p:cNvGrpSpPr/>
        <p:nvPr/>
      </p:nvGrpSpPr>
      <p:grpSpPr>
        <a:xfrm>
          <a:off x="0" y="0"/>
          <a:ext cx="0" cy="0"/>
          <a:chOff x="0" y="0"/>
          <a:chExt cx="0" cy="0"/>
        </a:xfrm>
      </p:grpSpPr>
      <p:sp>
        <p:nvSpPr>
          <p:cNvPr id="296" name="Google Shape;296;p6:notes">
            <a:extLst>
              <a:ext uri="{FF2B5EF4-FFF2-40B4-BE49-F238E27FC236}">
                <a16:creationId xmlns:a16="http://schemas.microsoft.com/office/drawing/2014/main" id="{25F77E8E-9FE1-5194-257F-810633C34500}"/>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 name="Google Shape;297;p6:notes">
            <a:extLst>
              <a:ext uri="{FF2B5EF4-FFF2-40B4-BE49-F238E27FC236}">
                <a16:creationId xmlns:a16="http://schemas.microsoft.com/office/drawing/2014/main" id="{991189BB-81D4-6C6D-F44D-445F0D0D33F8}"/>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7106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18C0B612-1C12-169D-B55E-4C7E7F78C49B}"/>
            </a:ext>
          </a:extLst>
        </p:cNvPr>
        <p:cNvGrpSpPr/>
        <p:nvPr/>
      </p:nvGrpSpPr>
      <p:grpSpPr>
        <a:xfrm>
          <a:off x="0" y="0"/>
          <a:ext cx="0" cy="0"/>
          <a:chOff x="0" y="0"/>
          <a:chExt cx="0" cy="0"/>
        </a:xfrm>
      </p:grpSpPr>
      <p:sp>
        <p:nvSpPr>
          <p:cNvPr id="296" name="Google Shape;296;p6:notes">
            <a:extLst>
              <a:ext uri="{FF2B5EF4-FFF2-40B4-BE49-F238E27FC236}">
                <a16:creationId xmlns:a16="http://schemas.microsoft.com/office/drawing/2014/main" id="{8FDCABD5-68D5-E970-8AE4-B9DAE955EF45}"/>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 name="Google Shape;297;p6:notes">
            <a:extLst>
              <a:ext uri="{FF2B5EF4-FFF2-40B4-BE49-F238E27FC236}">
                <a16:creationId xmlns:a16="http://schemas.microsoft.com/office/drawing/2014/main" id="{3F888EBB-8CC3-3206-EF2F-026AB744C2D7}"/>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5305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31783526-5A3D-0A98-F791-8DE75DBE4A79}"/>
            </a:ext>
          </a:extLst>
        </p:cNvPr>
        <p:cNvGrpSpPr/>
        <p:nvPr/>
      </p:nvGrpSpPr>
      <p:grpSpPr>
        <a:xfrm>
          <a:off x="0" y="0"/>
          <a:ext cx="0" cy="0"/>
          <a:chOff x="0" y="0"/>
          <a:chExt cx="0" cy="0"/>
        </a:xfrm>
      </p:grpSpPr>
      <p:sp>
        <p:nvSpPr>
          <p:cNvPr id="316" name="Google Shape;316;p8:notes">
            <a:extLst>
              <a:ext uri="{FF2B5EF4-FFF2-40B4-BE49-F238E27FC236}">
                <a16:creationId xmlns:a16="http://schemas.microsoft.com/office/drawing/2014/main" id="{5684E263-0F09-9FA4-BDA3-2BEDED6B91F3}"/>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7" name="Google Shape;317;p8:notes">
            <a:extLst>
              <a:ext uri="{FF2B5EF4-FFF2-40B4-BE49-F238E27FC236}">
                <a16:creationId xmlns:a16="http://schemas.microsoft.com/office/drawing/2014/main" id="{645B47E6-A5AF-3112-78DD-70B14E2AAEA4}"/>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1153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7B649EEC-7A1C-9989-EE85-C9541BC04C1F}"/>
            </a:ext>
          </a:extLst>
        </p:cNvPr>
        <p:cNvGrpSpPr/>
        <p:nvPr/>
      </p:nvGrpSpPr>
      <p:grpSpPr>
        <a:xfrm>
          <a:off x="0" y="0"/>
          <a:ext cx="0" cy="0"/>
          <a:chOff x="0" y="0"/>
          <a:chExt cx="0" cy="0"/>
        </a:xfrm>
      </p:grpSpPr>
      <p:sp>
        <p:nvSpPr>
          <p:cNvPr id="335" name="Google Shape;335;p10:notes">
            <a:extLst>
              <a:ext uri="{FF2B5EF4-FFF2-40B4-BE49-F238E27FC236}">
                <a16:creationId xmlns:a16="http://schemas.microsoft.com/office/drawing/2014/main" id="{6875B5DF-D07D-F69C-63E8-B81E3B75C61A}"/>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0:notes">
            <a:extLst>
              <a:ext uri="{FF2B5EF4-FFF2-40B4-BE49-F238E27FC236}">
                <a16:creationId xmlns:a16="http://schemas.microsoft.com/office/drawing/2014/main" id="{372E993C-A4E1-77BC-60C8-C2343F7C289E}"/>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9804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4AE6BA1A-A905-8409-ABA6-AA465F1F5AB2}"/>
            </a:ext>
          </a:extLst>
        </p:cNvPr>
        <p:cNvGrpSpPr/>
        <p:nvPr/>
      </p:nvGrpSpPr>
      <p:grpSpPr>
        <a:xfrm>
          <a:off x="0" y="0"/>
          <a:ext cx="0" cy="0"/>
          <a:chOff x="0" y="0"/>
          <a:chExt cx="0" cy="0"/>
        </a:xfrm>
      </p:grpSpPr>
      <p:sp>
        <p:nvSpPr>
          <p:cNvPr id="335" name="Google Shape;335;p10:notes">
            <a:extLst>
              <a:ext uri="{FF2B5EF4-FFF2-40B4-BE49-F238E27FC236}">
                <a16:creationId xmlns:a16="http://schemas.microsoft.com/office/drawing/2014/main" id="{C38A3A06-2916-229A-A34E-8AC7AB9717CB}"/>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0:notes">
            <a:extLst>
              <a:ext uri="{FF2B5EF4-FFF2-40B4-BE49-F238E27FC236}">
                <a16:creationId xmlns:a16="http://schemas.microsoft.com/office/drawing/2014/main" id="{80DC51F9-D7B1-9BBA-C683-C82E9AA83E5E}"/>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305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C45A0F5A-7DC1-9200-DC66-6836DE70D4FD}"/>
            </a:ext>
          </a:extLst>
        </p:cNvPr>
        <p:cNvGrpSpPr/>
        <p:nvPr/>
      </p:nvGrpSpPr>
      <p:grpSpPr>
        <a:xfrm>
          <a:off x="0" y="0"/>
          <a:ext cx="0" cy="0"/>
          <a:chOff x="0" y="0"/>
          <a:chExt cx="0" cy="0"/>
        </a:xfrm>
      </p:grpSpPr>
      <p:sp>
        <p:nvSpPr>
          <p:cNvPr id="335" name="Google Shape;335;p10:notes">
            <a:extLst>
              <a:ext uri="{FF2B5EF4-FFF2-40B4-BE49-F238E27FC236}">
                <a16:creationId xmlns:a16="http://schemas.microsoft.com/office/drawing/2014/main" id="{6D773208-596D-2E8D-CC03-EE844BFA8401}"/>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0:notes">
            <a:extLst>
              <a:ext uri="{FF2B5EF4-FFF2-40B4-BE49-F238E27FC236}">
                <a16:creationId xmlns:a16="http://schemas.microsoft.com/office/drawing/2014/main" id="{7181AE19-5020-3704-2C3B-28695AB6062E}"/>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1975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EDF06D0E-EDB8-04A2-F836-55B38A6CC182}"/>
            </a:ext>
          </a:extLst>
        </p:cNvPr>
        <p:cNvGrpSpPr/>
        <p:nvPr/>
      </p:nvGrpSpPr>
      <p:grpSpPr>
        <a:xfrm>
          <a:off x="0" y="0"/>
          <a:ext cx="0" cy="0"/>
          <a:chOff x="0" y="0"/>
          <a:chExt cx="0" cy="0"/>
        </a:xfrm>
      </p:grpSpPr>
      <p:sp>
        <p:nvSpPr>
          <p:cNvPr id="335" name="Google Shape;335;p10:notes">
            <a:extLst>
              <a:ext uri="{FF2B5EF4-FFF2-40B4-BE49-F238E27FC236}">
                <a16:creationId xmlns:a16="http://schemas.microsoft.com/office/drawing/2014/main" id="{EEBF54E5-EC6A-3D70-AFCC-A9AFB80786B3}"/>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0:notes">
            <a:extLst>
              <a:ext uri="{FF2B5EF4-FFF2-40B4-BE49-F238E27FC236}">
                <a16:creationId xmlns:a16="http://schemas.microsoft.com/office/drawing/2014/main" id="{1420B021-EDD9-F4D5-FC45-AAD3CEC61B34}"/>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574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7" name="Google Shape;477;p2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A0EC-21ED-D76D-1ADE-5A5D9F1F12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3949C7-571B-4E68-358B-69A3578774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3A3C3C-94F4-CC22-66E6-D07666691EBD}"/>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133E3C2B-2D70-1B35-A1F0-769239C002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32017-39F0-E8C5-898F-09521E1BFCE5}"/>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69261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EE25-CAEA-5049-5268-0B3C993289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FB06ED-AB99-E6D6-2137-F18AA89EE8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79689-067C-88FE-FD1C-7C633AA2602A}"/>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977CA35D-EED5-1DDA-3085-591A2FB88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4AA2C-6F9B-FCAD-8839-11E47B1AD59A}"/>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3488251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82E4-E610-EBEE-3363-6D15CDEC89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3BF7BA-ABE6-992D-9232-2DDD633FDF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8E9996-933A-EDB4-7857-3E4FEB527728}"/>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25386227-BC01-1200-56BC-547639CEC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74846-EDDF-C561-F451-78A71B776AB9}"/>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489003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2BB9-441E-2B61-7E18-FFBCF4BFD2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C2F177-3334-1557-8B48-C0BF70091B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CF3386-EB6D-C96F-2412-C2597416B3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96F3DA-E82C-6AEC-211A-46D89DD2624E}"/>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6" name="Footer Placeholder 5">
            <a:extLst>
              <a:ext uri="{FF2B5EF4-FFF2-40B4-BE49-F238E27FC236}">
                <a16:creationId xmlns:a16="http://schemas.microsoft.com/office/drawing/2014/main" id="{60D4C7BA-611D-A112-336E-F4DB769787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73F212-FC8B-4D03-3C23-EB2D5D5954C3}"/>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250276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FC14-0E5A-25F0-B4CF-AF9D020321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0B9EAE-9A22-52C6-FF50-782668854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AFC6BA-3AF6-0B78-892A-2377106603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A46E6D-9A74-C2B6-33B9-1EE962EDFE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B64BF9-7DA2-4BAA-9323-6D6EF3C97D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8C978-9094-98C3-EBD8-8833B03D3C46}"/>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8" name="Footer Placeholder 7">
            <a:extLst>
              <a:ext uri="{FF2B5EF4-FFF2-40B4-BE49-F238E27FC236}">
                <a16:creationId xmlns:a16="http://schemas.microsoft.com/office/drawing/2014/main" id="{4A418CF4-3635-3734-5B09-EF29E96228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53D418-DF10-7B29-03CE-6633CF5E1D5D}"/>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1470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9C5E1-7937-43BC-F6D1-9CBFA64E74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D16ECB-A1F0-B8A8-549A-B0F5C6045BA3}"/>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4" name="Footer Placeholder 3">
            <a:extLst>
              <a:ext uri="{FF2B5EF4-FFF2-40B4-BE49-F238E27FC236}">
                <a16:creationId xmlns:a16="http://schemas.microsoft.com/office/drawing/2014/main" id="{25F8CAEA-4CE8-4592-950A-2F8382EF5E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2D9450-88D5-B407-B4E8-271DFB225798}"/>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71003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0E077F-27E7-CF91-17AD-8F1FA8301BD0}"/>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3" name="Footer Placeholder 2">
            <a:extLst>
              <a:ext uri="{FF2B5EF4-FFF2-40B4-BE49-F238E27FC236}">
                <a16:creationId xmlns:a16="http://schemas.microsoft.com/office/drawing/2014/main" id="{FD68BDD7-E813-6BDD-E77E-3EFE68553F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3E10DE-8162-55EE-723B-FDECE0DF5B4F}"/>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07337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1869-5D4F-937F-05A0-62D34A85A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0E5DA-BDE8-C145-02BB-C8242C733E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AE0522-24B6-2B55-3669-EF5E6D88B6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97566B-C3C2-E65A-4805-38032C30DF98}"/>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6" name="Footer Placeholder 5">
            <a:extLst>
              <a:ext uri="{FF2B5EF4-FFF2-40B4-BE49-F238E27FC236}">
                <a16:creationId xmlns:a16="http://schemas.microsoft.com/office/drawing/2014/main" id="{157D400C-CBD1-378A-2286-2048771259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55588-2745-A120-4B07-0D4A4B99ED4B}"/>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1240099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FE71B-DF0C-7A87-CD43-5EDDEFE772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96C432-05F0-918F-AD82-67598DBAE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440A71-86CB-3D52-292A-B29526BF21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CB32A-A34A-304A-CB97-6F5291403193}"/>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6" name="Footer Placeholder 5">
            <a:extLst>
              <a:ext uri="{FF2B5EF4-FFF2-40B4-BE49-F238E27FC236}">
                <a16:creationId xmlns:a16="http://schemas.microsoft.com/office/drawing/2014/main" id="{922D25E4-411C-6975-24DE-5AE69349B6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818094-9996-4403-D054-77DB489301DF}"/>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2314238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E0E7-ABC7-49F9-B405-86DD0688A3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748CF0-79C2-83F4-CE00-47B222372C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78743-04FE-1D66-3ADF-7447386B4311}"/>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AB70F4F7-F47C-7D0F-CBD5-BF12C0E59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B22084-5873-B774-A0D3-9D557D838538}"/>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4013028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E3E8DC-401C-469B-A3E4-0D3F6BF201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2C44FC-A2A8-A649-133D-2DD13BEA91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F71FEE-CC1C-CF9C-ED38-9C852F9B68D6}"/>
              </a:ext>
            </a:extLst>
          </p:cNvPr>
          <p:cNvSpPr>
            <a:spLocks noGrp="1"/>
          </p:cNvSpPr>
          <p:nvPr>
            <p:ph type="dt" sz="half" idx="10"/>
          </p:nvPr>
        </p:nvSpPr>
        <p:spPr/>
        <p:txBody>
          <a:body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B7B9770F-8079-C1C2-4B82-8B0C75A199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FBC081-BA04-A843-9374-799B58CC2035}"/>
              </a:ext>
            </a:extLst>
          </p:cNvPr>
          <p:cNvSpPr>
            <a:spLocks noGrp="1"/>
          </p:cNvSpPr>
          <p:nvPr>
            <p:ph type="sldNum" sz="quarter" idx="12"/>
          </p:nvPr>
        </p:nvSpPr>
        <p:spPr/>
        <p:txBody>
          <a:bodyPr/>
          <a:lstStyle/>
          <a:p>
            <a:fld id="{E17E7993-C1F4-4491-B8E2-46787BDCFD05}" type="slidenum">
              <a:rPr lang="en-US" smtClean="0"/>
              <a:t>‹#›</a:t>
            </a:fld>
            <a:endParaRPr lang="en-US"/>
          </a:p>
        </p:txBody>
      </p:sp>
    </p:spTree>
    <p:extLst>
      <p:ext uri="{BB962C8B-B14F-4D97-AF65-F5344CB8AC3E}">
        <p14:creationId xmlns:p14="http://schemas.microsoft.com/office/powerpoint/2010/main" val="3447565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2068FC-80C4-BECB-51DD-4FEA434BD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47D792-4AB8-C54E-B3C2-20CA195927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5F910-6D6F-EC12-6F7D-B0846BBD85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9B5DEA-311B-49F2-A0BD-04CBAD69B711}" type="datetimeFigureOut">
              <a:rPr lang="en-US" smtClean="0"/>
              <a:t>12/29/2025</a:t>
            </a:fld>
            <a:endParaRPr lang="en-US"/>
          </a:p>
        </p:txBody>
      </p:sp>
      <p:sp>
        <p:nvSpPr>
          <p:cNvPr id="5" name="Footer Placeholder 4">
            <a:extLst>
              <a:ext uri="{FF2B5EF4-FFF2-40B4-BE49-F238E27FC236}">
                <a16:creationId xmlns:a16="http://schemas.microsoft.com/office/drawing/2014/main" id="{805D0C02-D310-D328-DB5B-D0A540BD6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9EBE4A-B1EA-9F86-9695-1BCF8D86BB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7E7993-C1F4-4491-B8E2-46787BDCFD05}" type="slidenum">
              <a:rPr lang="en-US" smtClean="0"/>
              <a:t>‹#›</a:t>
            </a:fld>
            <a:endParaRPr lang="en-US"/>
          </a:p>
        </p:txBody>
      </p:sp>
    </p:spTree>
    <p:extLst>
      <p:ext uri="{BB962C8B-B14F-4D97-AF65-F5344CB8AC3E}">
        <p14:creationId xmlns:p14="http://schemas.microsoft.com/office/powerpoint/2010/main" val="2197478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1;p2">
            <a:extLst>
              <a:ext uri="{FF2B5EF4-FFF2-40B4-BE49-F238E27FC236}">
                <a16:creationId xmlns:a16="http://schemas.microsoft.com/office/drawing/2014/main" id="{D2931AB1-D0F7-CB5F-AAA1-4C5987703D6A}"/>
              </a:ext>
            </a:extLst>
          </p:cNvPr>
          <p:cNvSpPr txBox="1">
            <a:spLocks noGrp="1"/>
          </p:cNvSpPr>
          <p:nvPr/>
        </p:nvSpPr>
        <p:spPr>
          <a:xfrm>
            <a:off x="828599" y="0"/>
            <a:ext cx="11362915" cy="697539"/>
          </a:xfrm>
          <a:prstGeom prst="rect">
            <a:avLst/>
          </a:prstGeom>
          <a:solidFill>
            <a:srgbClr val="FFD966"/>
          </a:solidFill>
          <a:ln>
            <a:noFill/>
          </a:ln>
        </p:spPr>
        <p:txBody>
          <a:bodyPr spcFirstLastPara="1" wrap="square" lIns="90000" tIns="45000" rIns="90000" bIns="45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rtl="0">
              <a:lnSpc>
                <a:spcPct val="90000"/>
              </a:lnSpc>
              <a:spcBef>
                <a:spcPts val="0"/>
              </a:spcBef>
              <a:spcAft>
                <a:spcPts val="0"/>
              </a:spcAft>
              <a:buClr>
                <a:srgbClr val="000000"/>
              </a:buClr>
              <a:buSzPts val="4000"/>
              <a:buFont typeface="Arial"/>
              <a:buNone/>
            </a:pPr>
            <a:r>
              <a:rPr lang="en-US" sz="4000" b="1" dirty="0"/>
              <a:t>Machine Learning</a:t>
            </a:r>
            <a:endParaRPr lang="en-US" sz="4000" b="1" i="0" u="none" strike="noStrike" cap="none" dirty="0">
              <a:latin typeface="Arial"/>
              <a:ea typeface="Arial"/>
              <a:cs typeface="Arial"/>
            </a:endParaRPr>
          </a:p>
        </p:txBody>
      </p:sp>
      <p:pic>
        <p:nvPicPr>
          <p:cNvPr id="1026" name="Picture 2">
            <a:extLst>
              <a:ext uri="{FF2B5EF4-FFF2-40B4-BE49-F238E27FC236}">
                <a16:creationId xmlns:a16="http://schemas.microsoft.com/office/drawing/2014/main" id="{A228B9F7-08F8-BDFA-7A46-2762B351F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31" y="0"/>
            <a:ext cx="736210" cy="69753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55E0DD72-3256-A8F8-CB69-F591384CCE85}"/>
              </a:ext>
            </a:extLst>
          </p:cNvPr>
          <p:cNvSpPr>
            <a:spLocks noGrp="1"/>
          </p:cNvSpPr>
          <p:nvPr/>
        </p:nvSpPr>
        <p:spPr>
          <a:xfrm>
            <a:off x="1287739" y="2432844"/>
            <a:ext cx="9616522" cy="1216265"/>
          </a:xfrm>
          <a:prstGeom prst="rect">
            <a:avLst/>
          </a:prstGeom>
          <a:noFill/>
        </p:spPr>
        <p:txBody>
          <a:bodyPr vert="horz" lIns="91440" tIns="45720" rIns="91440" bIns="45720" rtlCol="0" anchor="b">
            <a:noAutofit/>
          </a:bodyPr>
          <a:lstStyle>
            <a:defPPr marR="0" lvl="0" algn="l" rtl="0">
              <a:lnSpc>
                <a:spcPct val="100000"/>
              </a:lnSpc>
              <a:spcBef>
                <a:spcPts val="0"/>
              </a:spcBef>
              <a:spcAft>
                <a:spcPts val="0"/>
              </a:spcAft>
            </a:defPPr>
            <a:lvl1pPr marR="0" lvl="0" algn="ctr" defTabSz="914400" rtl="0" eaLnBrk="1" latinLnBrk="0" hangingPunct="1">
              <a:lnSpc>
                <a:spcPct val="90000"/>
              </a:lnSpc>
              <a:spcBef>
                <a:spcPct val="0"/>
              </a:spcBef>
              <a:spcAft>
                <a:spcPts val="0"/>
              </a:spcAft>
              <a:buClr>
                <a:srgbClr val="000000"/>
              </a:buClr>
              <a:buFont typeface="Arial"/>
              <a:buNone/>
              <a:defRPr sz="6000" b="0" i="0" u="none" strike="noStrike" kern="1200" cap="none">
                <a:solidFill>
                  <a:schemeClr val="tx1"/>
                </a:solidFill>
                <a:latin typeface="+mj-lt"/>
                <a:ea typeface="+mj-ea"/>
                <a:cs typeface="+mj-cs"/>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dirty="0" err="1">
                <a:latin typeface="Roboto" panose="02000000000000000000" pitchFamily="2" charset="0"/>
                <a:ea typeface="Roboto" panose="02000000000000000000" pitchFamily="2" charset="0"/>
                <a:cs typeface="Roboto" panose="02000000000000000000" pitchFamily="2" charset="0"/>
              </a:rPr>
              <a:t>Dự</a:t>
            </a:r>
            <a:r>
              <a:rPr lang="en-US" sz="4000" b="1" dirty="0">
                <a:latin typeface="Roboto" panose="02000000000000000000" pitchFamily="2" charset="0"/>
                <a:ea typeface="Roboto" panose="02000000000000000000" pitchFamily="2" charset="0"/>
                <a:cs typeface="Roboto" panose="02000000000000000000" pitchFamily="2" charset="0"/>
              </a:rPr>
              <a:t> </a:t>
            </a:r>
            <a:r>
              <a:rPr lang="en-US" sz="4000" b="1" dirty="0" err="1">
                <a:latin typeface="Roboto" panose="02000000000000000000" pitchFamily="2" charset="0"/>
                <a:ea typeface="Roboto" panose="02000000000000000000" pitchFamily="2" charset="0"/>
                <a:cs typeface="Roboto" panose="02000000000000000000" pitchFamily="2" charset="0"/>
              </a:rPr>
              <a:t>đoán</a:t>
            </a:r>
            <a:r>
              <a:rPr lang="en-US" sz="4000" b="1" dirty="0">
                <a:latin typeface="Roboto" panose="02000000000000000000" pitchFamily="2" charset="0"/>
                <a:ea typeface="Roboto" panose="02000000000000000000" pitchFamily="2" charset="0"/>
                <a:cs typeface="Roboto" panose="02000000000000000000" pitchFamily="2" charset="0"/>
              </a:rPr>
              <a:t> </a:t>
            </a:r>
            <a:r>
              <a:rPr lang="en-US" sz="4000" b="1" dirty="0" err="1">
                <a:latin typeface="Roboto" panose="02000000000000000000" pitchFamily="2" charset="0"/>
                <a:ea typeface="Roboto" panose="02000000000000000000" pitchFamily="2" charset="0"/>
                <a:cs typeface="Roboto" panose="02000000000000000000" pitchFamily="2" charset="0"/>
              </a:rPr>
              <a:t>nhiệt</a:t>
            </a:r>
            <a:r>
              <a:rPr lang="en-US" sz="4000" b="1" dirty="0">
                <a:latin typeface="Roboto" panose="02000000000000000000" pitchFamily="2" charset="0"/>
                <a:ea typeface="Roboto" panose="02000000000000000000" pitchFamily="2" charset="0"/>
                <a:cs typeface="Roboto" panose="02000000000000000000" pitchFamily="2" charset="0"/>
              </a:rPr>
              <a:t> </a:t>
            </a:r>
            <a:r>
              <a:rPr lang="en-US" sz="4000" b="1" dirty="0" err="1">
                <a:latin typeface="Roboto" panose="02000000000000000000" pitchFamily="2" charset="0"/>
                <a:ea typeface="Roboto" panose="02000000000000000000" pitchFamily="2" charset="0"/>
                <a:cs typeface="Roboto" panose="02000000000000000000" pitchFamily="2" charset="0"/>
              </a:rPr>
              <a:t>độ</a:t>
            </a:r>
            <a:r>
              <a:rPr lang="en-US" sz="4000" b="1" dirty="0">
                <a:latin typeface="Roboto" panose="02000000000000000000" pitchFamily="2" charset="0"/>
                <a:ea typeface="Roboto" panose="02000000000000000000" pitchFamily="2" charset="0"/>
                <a:cs typeface="Roboto" panose="02000000000000000000" pitchFamily="2" charset="0"/>
              </a:rPr>
              <a:t> </a:t>
            </a:r>
            <a:r>
              <a:rPr lang="en-US" sz="4000" b="1" dirty="0" err="1">
                <a:latin typeface="Roboto" panose="02000000000000000000" pitchFamily="2" charset="0"/>
                <a:ea typeface="Roboto" panose="02000000000000000000" pitchFamily="2" charset="0"/>
                <a:cs typeface="Roboto" panose="02000000000000000000" pitchFamily="2" charset="0"/>
              </a:rPr>
              <a:t>theo</a:t>
            </a:r>
            <a:r>
              <a:rPr lang="en-US" sz="4000" b="1" dirty="0">
                <a:latin typeface="Roboto" panose="02000000000000000000" pitchFamily="2" charset="0"/>
                <a:ea typeface="Roboto" panose="02000000000000000000" pitchFamily="2" charset="0"/>
                <a:cs typeface="Roboto" panose="02000000000000000000" pitchFamily="2" charset="0"/>
              </a:rPr>
              <a:t> </a:t>
            </a:r>
            <a:r>
              <a:rPr lang="en-US" sz="4000" b="1" dirty="0" err="1">
                <a:latin typeface="Roboto" panose="02000000000000000000" pitchFamily="2" charset="0"/>
                <a:ea typeface="Roboto" panose="02000000000000000000" pitchFamily="2" charset="0"/>
                <a:cs typeface="Roboto" panose="02000000000000000000" pitchFamily="2" charset="0"/>
              </a:rPr>
              <a:t>ngày</a:t>
            </a:r>
            <a:endParaRPr lang="en-US" sz="4000" b="1" dirty="0">
              <a:latin typeface="Roboto" panose="02000000000000000000" pitchFamily="2" charset="0"/>
              <a:ea typeface="Roboto" panose="02000000000000000000" pitchFamily="2" charset="0"/>
              <a:cs typeface="Roboto" panose="02000000000000000000" pitchFamily="2" charset="0"/>
            </a:endParaRPr>
          </a:p>
          <a:p>
            <a:r>
              <a:rPr lang="en-US" sz="4000" b="1" dirty="0">
                <a:latin typeface="Roboto" panose="02000000000000000000" pitchFamily="2" charset="0"/>
                <a:ea typeface="Roboto" panose="02000000000000000000" pitchFamily="2" charset="0"/>
                <a:cs typeface="Roboto" panose="02000000000000000000" pitchFamily="2" charset="0"/>
              </a:rPr>
              <a:t>(LSTM, </a:t>
            </a:r>
            <a:r>
              <a:rPr lang="en-US" sz="4000" b="1" dirty="0" err="1">
                <a:latin typeface="Roboto" panose="02000000000000000000" pitchFamily="2" charset="0"/>
                <a:ea typeface="Roboto" panose="02000000000000000000" pitchFamily="2" charset="0"/>
                <a:cs typeface="Roboto" panose="02000000000000000000" pitchFamily="2" charset="0"/>
              </a:rPr>
              <a:t>LG,Random</a:t>
            </a:r>
            <a:r>
              <a:rPr lang="en-US" sz="4000" b="1" dirty="0">
                <a:latin typeface="Roboto" panose="02000000000000000000" pitchFamily="2" charset="0"/>
                <a:ea typeface="Roboto" panose="02000000000000000000" pitchFamily="2" charset="0"/>
                <a:cs typeface="Roboto" panose="02000000000000000000" pitchFamily="2" charset="0"/>
              </a:rPr>
              <a:t> Forest)</a:t>
            </a:r>
          </a:p>
        </p:txBody>
      </p:sp>
      <p:sp>
        <p:nvSpPr>
          <p:cNvPr id="6" name="Subtitle 2">
            <a:extLst>
              <a:ext uri="{FF2B5EF4-FFF2-40B4-BE49-F238E27FC236}">
                <a16:creationId xmlns:a16="http://schemas.microsoft.com/office/drawing/2014/main" id="{5DA0E682-B72F-03F1-E142-E7735743C278}"/>
              </a:ext>
            </a:extLst>
          </p:cNvPr>
          <p:cNvSpPr txBox="1">
            <a:spLocks/>
          </p:cNvSpPr>
          <p:nvPr/>
        </p:nvSpPr>
        <p:spPr>
          <a:xfrm>
            <a:off x="2731559" y="3789946"/>
            <a:ext cx="6420513" cy="865800"/>
          </a:xfrm>
          <a:prstGeom prst="rect">
            <a:avLst/>
          </a:prstGeom>
        </p:spPr>
        <p:txBody>
          <a:bodyPr vert="horz" lIns="91440" tIns="45720" rIns="91440" bIns="45720" rtlCol="0" anchor="t">
            <a:noAutofit/>
          </a:bodyPr>
          <a:lstStyle>
            <a:defPPr marR="0" lvl="0" algn="l" rtl="0">
              <a:lnSpc>
                <a:spcPct val="100000"/>
              </a:lnSpc>
              <a:spcBef>
                <a:spcPts val="0"/>
              </a:spcBef>
              <a:spcAft>
                <a:spcPts val="0"/>
              </a:spcAft>
              <a:defRPr lang="en-VN"/>
            </a:defPPr>
            <a:lvl1pPr marL="0" marR="0" lvl="0" indent="0" algn="ctr" defTabSz="914400" rtl="0" eaLnBrk="1" latinLnBrk="0" hangingPunct="1">
              <a:lnSpc>
                <a:spcPct val="90000"/>
              </a:lnSpc>
              <a:spcBef>
                <a:spcPts val="1000"/>
              </a:spcBef>
              <a:spcAft>
                <a:spcPts val="0"/>
              </a:spcAft>
              <a:buClr>
                <a:srgbClr val="000000"/>
              </a:buClr>
              <a:buFont typeface="Arial" panose="020B0604020202020204" pitchFamily="34" charset="0"/>
              <a:buNone/>
              <a:defRPr sz="2400" b="0" i="0" u="none" strike="noStrike" kern="1200" cap="none">
                <a:solidFill>
                  <a:schemeClr val="tx1"/>
                </a:solidFill>
                <a:latin typeface="+mn-lt"/>
                <a:ea typeface="+mn-ea"/>
                <a:cs typeface="+mn-cs"/>
                <a:sym typeface="Arial"/>
              </a:defRPr>
            </a:lvl1pPr>
            <a:lvl2pPr marL="457200" marR="0" lvl="1"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2000" b="0" i="0" u="none" strike="noStrike" kern="1200" cap="none">
                <a:solidFill>
                  <a:schemeClr val="tx1"/>
                </a:solidFill>
                <a:latin typeface="+mn-lt"/>
                <a:ea typeface="+mn-ea"/>
                <a:cs typeface="+mn-cs"/>
                <a:sym typeface="Arial"/>
              </a:defRPr>
            </a:lvl2pPr>
            <a:lvl3pPr marL="914400" marR="0" lvl="2"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800" b="0" i="0" u="none" strike="noStrike" kern="1200" cap="none">
                <a:solidFill>
                  <a:schemeClr val="tx1"/>
                </a:solidFill>
                <a:latin typeface="+mn-lt"/>
                <a:ea typeface="+mn-ea"/>
                <a:cs typeface="+mn-cs"/>
                <a:sym typeface="Arial"/>
              </a:defRPr>
            </a:lvl3pPr>
            <a:lvl4pPr marL="1371600" marR="0" lvl="3"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4pPr>
            <a:lvl5pPr marL="1828800" marR="0" lvl="4"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5pPr>
            <a:lvl6pPr marL="2286000" marR="0" lvl="5"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6pPr>
            <a:lvl7pPr marL="2743200" marR="0" lvl="6"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7pPr>
            <a:lvl8pPr marL="3200400" marR="0" lvl="7"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8pPr>
            <a:lvl9pPr marL="3657600" marR="0" lvl="8"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9pPr>
          </a:lstStyle>
          <a:p>
            <a:pPr algn="l">
              <a:spcBef>
                <a:spcPts val="2200"/>
              </a:spcBef>
            </a:pPr>
            <a:r>
              <a:rPr lang="en-US" sz="2000" b="1" i="1" dirty="0">
                <a:solidFill>
                  <a:srgbClr val="002060"/>
                </a:solidFill>
                <a:latin typeface="Roboto" panose="02000000000000000000" pitchFamily="2" charset="0"/>
                <a:ea typeface="Roboto" panose="02000000000000000000" pitchFamily="2" charset="0"/>
                <a:cs typeface="Roboto" panose="02000000000000000000" pitchFamily="2" charset="0"/>
              </a:rPr>
              <a:t>		</a:t>
            </a:r>
          </a:p>
          <a:p>
            <a:r>
              <a:rPr lang="vi-VN" sz="2000" dirty="0"/>
              <a:t>Người trình bày: </a:t>
            </a:r>
            <a:r>
              <a:rPr lang="en-US" sz="2000" dirty="0"/>
              <a:t>Lê Tuấn Minh</a:t>
            </a:r>
            <a:endParaRPr lang="vi-VN" sz="2000" dirty="0"/>
          </a:p>
          <a:p>
            <a:r>
              <a:rPr lang="vi-VN" sz="2000" dirty="0"/>
              <a:t>Giảng viên hướng dẫn: PGS.TS Nguyễn Văn Hậu</a:t>
            </a:r>
          </a:p>
          <a:p>
            <a:br>
              <a:rPr lang="vi-VN" sz="2000" dirty="0"/>
            </a:br>
            <a:endParaRPr lang="en-US" sz="2000" b="1" dirty="0">
              <a:solidFill>
                <a:srgbClr val="002060"/>
              </a:solidFill>
              <a:latin typeface="Roboto"/>
              <a:ea typeface="Roboto"/>
              <a:cs typeface="Roboto"/>
            </a:endParaRPr>
          </a:p>
        </p:txBody>
      </p:sp>
      <p:sp>
        <p:nvSpPr>
          <p:cNvPr id="7" name="Subtitle 2">
            <a:extLst>
              <a:ext uri="{FF2B5EF4-FFF2-40B4-BE49-F238E27FC236}">
                <a16:creationId xmlns:a16="http://schemas.microsoft.com/office/drawing/2014/main" id="{DC7E9834-658A-66F6-61DD-23C26B741992}"/>
              </a:ext>
            </a:extLst>
          </p:cNvPr>
          <p:cNvSpPr txBox="1">
            <a:spLocks/>
          </p:cNvSpPr>
          <p:nvPr/>
        </p:nvSpPr>
        <p:spPr>
          <a:xfrm>
            <a:off x="3776954" y="3968622"/>
            <a:ext cx="4329725" cy="865800"/>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RPr lang="en-VN"/>
            </a:defPPr>
            <a:lvl1pPr marL="0" marR="0" lvl="0" indent="0" algn="ctr" defTabSz="914400" rtl="0" eaLnBrk="1" latinLnBrk="0" hangingPunct="1">
              <a:lnSpc>
                <a:spcPct val="90000"/>
              </a:lnSpc>
              <a:spcBef>
                <a:spcPts val="1000"/>
              </a:spcBef>
              <a:spcAft>
                <a:spcPts val="0"/>
              </a:spcAft>
              <a:buClr>
                <a:srgbClr val="000000"/>
              </a:buClr>
              <a:buFont typeface="Arial" panose="020B0604020202020204" pitchFamily="34" charset="0"/>
              <a:buNone/>
              <a:defRPr sz="2400" b="0" i="0" u="none" strike="noStrike" kern="1200" cap="none">
                <a:solidFill>
                  <a:schemeClr val="tx1"/>
                </a:solidFill>
                <a:latin typeface="+mn-lt"/>
                <a:ea typeface="+mn-ea"/>
                <a:cs typeface="+mn-cs"/>
                <a:sym typeface="Arial"/>
              </a:defRPr>
            </a:lvl1pPr>
            <a:lvl2pPr marL="457200" marR="0" lvl="1"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2000" b="0" i="0" u="none" strike="noStrike" kern="1200" cap="none">
                <a:solidFill>
                  <a:schemeClr val="tx1"/>
                </a:solidFill>
                <a:latin typeface="+mn-lt"/>
                <a:ea typeface="+mn-ea"/>
                <a:cs typeface="+mn-cs"/>
                <a:sym typeface="Arial"/>
              </a:defRPr>
            </a:lvl2pPr>
            <a:lvl3pPr marL="914400" marR="0" lvl="2"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800" b="0" i="0" u="none" strike="noStrike" kern="1200" cap="none">
                <a:solidFill>
                  <a:schemeClr val="tx1"/>
                </a:solidFill>
                <a:latin typeface="+mn-lt"/>
                <a:ea typeface="+mn-ea"/>
                <a:cs typeface="+mn-cs"/>
                <a:sym typeface="Arial"/>
              </a:defRPr>
            </a:lvl3pPr>
            <a:lvl4pPr marL="1371600" marR="0" lvl="3"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4pPr>
            <a:lvl5pPr marL="1828800" marR="0" lvl="4"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5pPr>
            <a:lvl6pPr marL="2286000" marR="0" lvl="5"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6pPr>
            <a:lvl7pPr marL="2743200" marR="0" lvl="6"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7pPr>
            <a:lvl8pPr marL="3200400" marR="0" lvl="7"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8pPr>
            <a:lvl9pPr marL="3657600" marR="0" lvl="8" indent="0" algn="ctr" defTabSz="914400" rtl="0" eaLnBrk="1" latinLnBrk="0" hangingPunct="1">
              <a:lnSpc>
                <a:spcPct val="90000"/>
              </a:lnSpc>
              <a:spcBef>
                <a:spcPts val="500"/>
              </a:spcBef>
              <a:spcAft>
                <a:spcPts val="0"/>
              </a:spcAft>
              <a:buClr>
                <a:srgbClr val="000000"/>
              </a:buClr>
              <a:buFont typeface="Arial" panose="020B0604020202020204" pitchFamily="34" charset="0"/>
              <a:buNone/>
              <a:defRPr sz="1600" b="0" i="0" u="none" strike="noStrike" kern="1200" cap="none">
                <a:solidFill>
                  <a:schemeClr val="tx1"/>
                </a:solidFill>
                <a:latin typeface="+mn-lt"/>
                <a:ea typeface="+mn-ea"/>
                <a:cs typeface="+mn-cs"/>
                <a:sym typeface="Arial"/>
              </a:defRPr>
            </a:lvl9pPr>
          </a:lstStyle>
          <a:p>
            <a:pPr algn="l">
              <a:spcBef>
                <a:spcPts val="2200"/>
              </a:spcBef>
            </a:pPr>
            <a:r>
              <a:rPr lang="en-US" b="1" i="1" dirty="0">
                <a:solidFill>
                  <a:srgbClr val="002060"/>
                </a:solidFill>
                <a:latin typeface="Roboto" panose="02000000000000000000" pitchFamily="2" charset="0"/>
                <a:ea typeface="Roboto" panose="02000000000000000000" pitchFamily="2" charset="0"/>
                <a:cs typeface="Roboto" panose="02000000000000000000" pitchFamily="2" charset="0"/>
              </a:rPr>
              <a:t>		</a:t>
            </a:r>
          </a:p>
          <a:p>
            <a:endParaRPr lang="en-US" sz="2100" dirty="0">
              <a:solidFill>
                <a:srgbClr val="002060"/>
              </a:solidFill>
              <a:latin typeface="Roboto"/>
              <a:ea typeface="Roboto"/>
              <a:cs typeface="Roboto"/>
            </a:endParaRPr>
          </a:p>
          <a:p>
            <a:endParaRPr lang="en-US" sz="2100" dirty="0">
              <a:solidFill>
                <a:srgbClr val="002060"/>
              </a:solidFill>
              <a:latin typeface="Roboto"/>
              <a:ea typeface="Roboto"/>
              <a:cs typeface="Roboto"/>
            </a:endParaRPr>
          </a:p>
        </p:txBody>
      </p:sp>
      <p:sp>
        <p:nvSpPr>
          <p:cNvPr id="8" name="Google Shape;262;p2">
            <a:extLst>
              <a:ext uri="{FF2B5EF4-FFF2-40B4-BE49-F238E27FC236}">
                <a16:creationId xmlns:a16="http://schemas.microsoft.com/office/drawing/2014/main" id="{68ECF5CA-696F-7B12-CE62-FD503B7A9CA8}"/>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7553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2"/>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sz="1400" b="1" dirty="0">
                <a:solidFill>
                  <a:srgbClr val="B2B2B2"/>
                </a:solidFill>
                <a:latin typeface="Arial"/>
                <a:cs typeface="Arial"/>
                <a:sym typeface="Arial"/>
              </a:rPr>
              <a:t>1</a:t>
            </a:r>
            <a:r>
              <a:rPr lang="en-US" dirty="0"/>
              <a:t>/15</a:t>
            </a:r>
            <a:endParaRPr sz="1400" b="0" i="0" u="none" strike="noStrike" cap="none" dirty="0">
              <a:solidFill>
                <a:srgbClr val="B2B2B2"/>
              </a:solidFill>
              <a:latin typeface="Times New Roman"/>
              <a:ea typeface="Times New Roman"/>
              <a:cs typeface="Times New Roman"/>
              <a:sym typeface="Times New Roman"/>
            </a:endParaRPr>
          </a:p>
        </p:txBody>
      </p:sp>
      <p:sp>
        <p:nvSpPr>
          <p:cNvPr id="261" name="Google Shape;261;p2"/>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marL="0" marR="0" lvl="0" indent="0" algn="l" rtl="0">
              <a:lnSpc>
                <a:spcPct val="90000"/>
              </a:lnSpc>
              <a:spcBef>
                <a:spcPts val="0"/>
              </a:spcBef>
              <a:spcAft>
                <a:spcPts val="0"/>
              </a:spcAft>
              <a:buClr>
                <a:srgbClr val="000000"/>
              </a:buClr>
              <a:buSzPts val="4000"/>
              <a:buFont typeface="Arial"/>
              <a:buNone/>
            </a:pPr>
            <a:r>
              <a:rPr lang="en-US" sz="4000" b="1" i="0" u="none" strike="noStrike" cap="none" dirty="0">
                <a:solidFill>
                  <a:srgbClr val="000000"/>
                </a:solidFill>
                <a:latin typeface="Arial"/>
                <a:ea typeface="Arial"/>
                <a:cs typeface="Arial"/>
                <a:sym typeface="Arial"/>
              </a:rPr>
              <a:t>Overview</a:t>
            </a:r>
            <a:endParaRPr sz="4000" b="1" i="0" u="none" strike="noStrike" cap="none" dirty="0">
              <a:latin typeface="Arial"/>
              <a:ea typeface="Arial"/>
              <a:cs typeface="Arial"/>
              <a:sym typeface="Arial"/>
            </a:endParaRPr>
          </a:p>
        </p:txBody>
      </p:sp>
      <p:pic>
        <p:nvPicPr>
          <p:cNvPr id="2" name="Picture 1" descr="Tập tin:Logo Trường Đại học Sư phạm Kỹ thuật Hưng Yên.svg – Wikipedia tiếng  Việt">
            <a:extLst>
              <a:ext uri="{FF2B5EF4-FFF2-40B4-BE49-F238E27FC236}">
                <a16:creationId xmlns:a16="http://schemas.microsoft.com/office/drawing/2014/main" id="{C0A73AB9-7240-C0DC-A1D5-1161F44ABAFD}"/>
              </a:ext>
            </a:extLst>
          </p:cNvPr>
          <p:cNvPicPr>
            <a:picLocks noChangeAspect="1"/>
          </p:cNvPicPr>
          <p:nvPr/>
        </p:nvPicPr>
        <p:blipFill>
          <a:blip r:embed="rId3"/>
          <a:stretch>
            <a:fillRect/>
          </a:stretch>
        </p:blipFill>
        <p:spPr>
          <a:xfrm>
            <a:off x="-2966" y="-359"/>
            <a:ext cx="839818" cy="863361"/>
          </a:xfrm>
          <a:prstGeom prst="rect">
            <a:avLst/>
          </a:prstGeom>
        </p:spPr>
      </p:pic>
      <p:sp>
        <p:nvSpPr>
          <p:cNvPr id="3" name="Google Shape;262;p2">
            <a:extLst>
              <a:ext uri="{FF2B5EF4-FFF2-40B4-BE49-F238E27FC236}">
                <a16:creationId xmlns:a16="http://schemas.microsoft.com/office/drawing/2014/main" id="{2E83BCE3-2FE0-A0B4-0149-759148B31A4E}"/>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grpSp>
        <p:nvGrpSpPr>
          <p:cNvPr id="4" name="Group 3">
            <a:extLst>
              <a:ext uri="{FF2B5EF4-FFF2-40B4-BE49-F238E27FC236}">
                <a16:creationId xmlns:a16="http://schemas.microsoft.com/office/drawing/2014/main" id="{B4A2D443-7730-763A-F990-C509E4E266E0}"/>
              </a:ext>
            </a:extLst>
          </p:cNvPr>
          <p:cNvGrpSpPr>
            <a:grpSpLocks/>
          </p:cNvGrpSpPr>
          <p:nvPr/>
        </p:nvGrpSpPr>
        <p:grpSpPr bwMode="auto">
          <a:xfrm>
            <a:off x="3352800" y="1311646"/>
            <a:ext cx="762000" cy="665162"/>
            <a:chOff x="1110" y="2656"/>
            <a:chExt cx="1549" cy="1351"/>
          </a:xfrm>
        </p:grpSpPr>
        <p:sp>
          <p:nvSpPr>
            <p:cNvPr id="5" name="AutoShape 4">
              <a:extLst>
                <a:ext uri="{FF2B5EF4-FFF2-40B4-BE49-F238E27FC236}">
                  <a16:creationId xmlns:a16="http://schemas.microsoft.com/office/drawing/2014/main" id="{769AAD3A-B772-0644-7D29-F9CAED3C94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6" name="AutoShape 5">
              <a:extLst>
                <a:ext uri="{FF2B5EF4-FFF2-40B4-BE49-F238E27FC236}">
                  <a16:creationId xmlns:a16="http://schemas.microsoft.com/office/drawing/2014/main" id="{6DCEE7FC-C160-ADF2-B996-520ADF4D85F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7" name="AutoShape 6">
              <a:extLst>
                <a:ext uri="{FF2B5EF4-FFF2-40B4-BE49-F238E27FC236}">
                  <a16:creationId xmlns:a16="http://schemas.microsoft.com/office/drawing/2014/main" id="{57CFB309-8DC4-E17A-A3CD-C60E8C300AD4}"/>
                </a:ext>
              </a:extLst>
            </p:cNvPr>
            <p:cNvSpPr>
              <a:spLocks noChangeArrowheads="1"/>
            </p:cNvSpPr>
            <p:nvPr/>
          </p:nvSpPr>
          <p:spPr bwMode="gray">
            <a:xfrm>
              <a:off x="1200" y="2736"/>
              <a:ext cx="1350" cy="1168"/>
            </a:xfrm>
            <a:prstGeom prst="hexagon">
              <a:avLst>
                <a:gd name="adj" fmla="val 28896"/>
                <a:gd name="vf" fmla="val 11547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8" name="Line 11">
            <a:extLst>
              <a:ext uri="{FF2B5EF4-FFF2-40B4-BE49-F238E27FC236}">
                <a16:creationId xmlns:a16="http://schemas.microsoft.com/office/drawing/2014/main" id="{28344435-35A3-919F-5C5D-0861CC6BA0DC}"/>
              </a:ext>
            </a:extLst>
          </p:cNvPr>
          <p:cNvSpPr>
            <a:spLocks noChangeShapeType="1"/>
          </p:cNvSpPr>
          <p:nvPr/>
        </p:nvSpPr>
        <p:spPr bwMode="auto">
          <a:xfrm>
            <a:off x="3962400" y="1948607"/>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9" name="Text Box 12">
            <a:extLst>
              <a:ext uri="{FF2B5EF4-FFF2-40B4-BE49-F238E27FC236}">
                <a16:creationId xmlns:a16="http://schemas.microsoft.com/office/drawing/2014/main" id="{67D3BD19-C93E-7D6F-92F3-6402F81681E9}"/>
              </a:ext>
            </a:extLst>
          </p:cNvPr>
          <p:cNvSpPr txBox="1">
            <a:spLocks noChangeArrowheads="1"/>
          </p:cNvSpPr>
          <p:nvPr/>
        </p:nvSpPr>
        <p:spPr bwMode="auto">
          <a:xfrm>
            <a:off x="4191000" y="1391143"/>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2800" b="1" dirty="0" err="1">
                <a:latin typeface="Arial" panose="020B0604020202020204" pitchFamily="34" charset="0"/>
                <a:cs typeface="Arial" panose="020B0604020202020204" pitchFamily="34" charset="0"/>
              </a:rPr>
              <a:t>Tổng</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quan</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bài</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toán</a:t>
            </a:r>
            <a:endParaRPr lang="en-US" sz="3200" b="1" dirty="0">
              <a:latin typeface="Arial" panose="020B0604020202020204" pitchFamily="34" charset="0"/>
              <a:cs typeface="Arial" panose="020B0604020202020204" pitchFamily="34" charset="0"/>
            </a:endParaRPr>
          </a:p>
        </p:txBody>
      </p:sp>
      <p:sp>
        <p:nvSpPr>
          <p:cNvPr id="10" name="Text Box 13">
            <a:extLst>
              <a:ext uri="{FF2B5EF4-FFF2-40B4-BE49-F238E27FC236}">
                <a16:creationId xmlns:a16="http://schemas.microsoft.com/office/drawing/2014/main" id="{EB099D34-7B1D-55E5-F959-545E779AF268}"/>
              </a:ext>
            </a:extLst>
          </p:cNvPr>
          <p:cNvSpPr txBox="1">
            <a:spLocks noChangeArrowheads="1"/>
          </p:cNvSpPr>
          <p:nvPr/>
        </p:nvSpPr>
        <p:spPr bwMode="gray">
          <a:xfrm>
            <a:off x="3598963" y="1412777"/>
            <a:ext cx="269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a:t>
            </a:r>
          </a:p>
        </p:txBody>
      </p:sp>
      <p:sp>
        <p:nvSpPr>
          <p:cNvPr id="11" name="Text Box 15">
            <a:extLst>
              <a:ext uri="{FF2B5EF4-FFF2-40B4-BE49-F238E27FC236}">
                <a16:creationId xmlns:a16="http://schemas.microsoft.com/office/drawing/2014/main" id="{F00F8C10-D7AC-E09A-20F3-6A1F40484187}"/>
              </a:ext>
            </a:extLst>
          </p:cNvPr>
          <p:cNvSpPr txBox="1">
            <a:spLocks noChangeArrowheads="1"/>
          </p:cNvSpPr>
          <p:nvPr/>
        </p:nvSpPr>
        <p:spPr bwMode="auto">
          <a:xfrm>
            <a:off x="4191000" y="3511990"/>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err="1">
                <a:latin typeface="Arial" panose="020B0604020202020204" pitchFamily="34" charset="0"/>
                <a:cs typeface="Arial" panose="020B0604020202020204" pitchFamily="34" charset="0"/>
              </a:rPr>
              <a:t>Cài</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đặt</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mô</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hình</a:t>
            </a:r>
            <a:endParaRPr lang="en-US" sz="2800" b="1" dirty="0">
              <a:latin typeface="Arial" panose="020B0604020202020204" pitchFamily="34" charset="0"/>
              <a:cs typeface="Arial" panose="020B0604020202020204" pitchFamily="34" charset="0"/>
            </a:endParaRPr>
          </a:p>
        </p:txBody>
      </p:sp>
      <p:sp>
        <p:nvSpPr>
          <p:cNvPr id="12" name="Text Box 16">
            <a:extLst>
              <a:ext uri="{FF2B5EF4-FFF2-40B4-BE49-F238E27FC236}">
                <a16:creationId xmlns:a16="http://schemas.microsoft.com/office/drawing/2014/main" id="{CC07B12B-0365-0395-EDBE-ED5784609D53}"/>
              </a:ext>
            </a:extLst>
          </p:cNvPr>
          <p:cNvSpPr txBox="1">
            <a:spLocks noChangeArrowheads="1"/>
          </p:cNvSpPr>
          <p:nvPr/>
        </p:nvSpPr>
        <p:spPr bwMode="gray">
          <a:xfrm>
            <a:off x="3506884" y="3582344"/>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grpSp>
        <p:nvGrpSpPr>
          <p:cNvPr id="13" name="Group 17">
            <a:extLst>
              <a:ext uri="{FF2B5EF4-FFF2-40B4-BE49-F238E27FC236}">
                <a16:creationId xmlns:a16="http://schemas.microsoft.com/office/drawing/2014/main" id="{1FD38AA1-1F96-0415-8706-76E619C1E3A1}"/>
              </a:ext>
            </a:extLst>
          </p:cNvPr>
          <p:cNvGrpSpPr>
            <a:grpSpLocks/>
          </p:cNvGrpSpPr>
          <p:nvPr/>
        </p:nvGrpSpPr>
        <p:grpSpPr bwMode="auto">
          <a:xfrm>
            <a:off x="3352800" y="2367702"/>
            <a:ext cx="762000" cy="665162"/>
            <a:chOff x="1110" y="2656"/>
            <a:chExt cx="1549" cy="1351"/>
          </a:xfrm>
        </p:grpSpPr>
        <p:sp>
          <p:nvSpPr>
            <p:cNvPr id="14" name="AutoShape 18">
              <a:extLst>
                <a:ext uri="{FF2B5EF4-FFF2-40B4-BE49-F238E27FC236}">
                  <a16:creationId xmlns:a16="http://schemas.microsoft.com/office/drawing/2014/main" id="{6CB553DE-CA41-0F43-1A88-2459E9EE43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5" name="AutoShape 19">
              <a:extLst>
                <a:ext uri="{FF2B5EF4-FFF2-40B4-BE49-F238E27FC236}">
                  <a16:creationId xmlns:a16="http://schemas.microsoft.com/office/drawing/2014/main" id="{B45076EF-745E-78B6-39F8-577C5FB9688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6" name="AutoShape 20">
              <a:extLst>
                <a:ext uri="{FF2B5EF4-FFF2-40B4-BE49-F238E27FC236}">
                  <a16:creationId xmlns:a16="http://schemas.microsoft.com/office/drawing/2014/main" id="{50F25CE1-5934-72DB-5113-5D2DFE811CC2}"/>
                </a:ext>
              </a:extLst>
            </p:cNvPr>
            <p:cNvSpPr>
              <a:spLocks noChangeArrowheads="1"/>
            </p:cNvSpPr>
            <p:nvPr/>
          </p:nvSpPr>
          <p:spPr bwMode="gray">
            <a:xfrm>
              <a:off x="1200" y="2736"/>
              <a:ext cx="1350" cy="1168"/>
            </a:xfrm>
            <a:prstGeom prst="hexagon">
              <a:avLst>
                <a:gd name="adj" fmla="val 28896"/>
                <a:gd name="vf" fmla="val 115470"/>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grpSp>
        <p:nvGrpSpPr>
          <p:cNvPr id="17" name="Group 21">
            <a:extLst>
              <a:ext uri="{FF2B5EF4-FFF2-40B4-BE49-F238E27FC236}">
                <a16:creationId xmlns:a16="http://schemas.microsoft.com/office/drawing/2014/main" id="{73ABDE74-B25B-8907-9019-96EE1C5635A9}"/>
              </a:ext>
            </a:extLst>
          </p:cNvPr>
          <p:cNvGrpSpPr>
            <a:grpSpLocks/>
          </p:cNvGrpSpPr>
          <p:nvPr/>
        </p:nvGrpSpPr>
        <p:grpSpPr bwMode="auto">
          <a:xfrm>
            <a:off x="3352800" y="4515910"/>
            <a:ext cx="762000" cy="665162"/>
            <a:chOff x="3174" y="2656"/>
            <a:chExt cx="1549" cy="1351"/>
          </a:xfrm>
        </p:grpSpPr>
        <p:sp>
          <p:nvSpPr>
            <p:cNvPr id="18" name="AutoShape 22">
              <a:extLst>
                <a:ext uri="{FF2B5EF4-FFF2-40B4-BE49-F238E27FC236}">
                  <a16:creationId xmlns:a16="http://schemas.microsoft.com/office/drawing/2014/main" id="{2FA71A5D-CA96-F554-6CC0-B8AC12B99BA2}"/>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9" name="AutoShape 23">
              <a:extLst>
                <a:ext uri="{FF2B5EF4-FFF2-40B4-BE49-F238E27FC236}">
                  <a16:creationId xmlns:a16="http://schemas.microsoft.com/office/drawing/2014/main" id="{BA230D41-363C-09B5-53D6-172FD857DCA4}"/>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0" name="AutoShape 24">
              <a:extLst>
                <a:ext uri="{FF2B5EF4-FFF2-40B4-BE49-F238E27FC236}">
                  <a16:creationId xmlns:a16="http://schemas.microsoft.com/office/drawing/2014/main" id="{59842D69-704B-1EBC-7B9E-E5A6E0423019}"/>
                </a:ext>
              </a:extLst>
            </p:cNvPr>
            <p:cNvSpPr>
              <a:spLocks noChangeArrowheads="1"/>
            </p:cNvSpPr>
            <p:nvPr/>
          </p:nvSpPr>
          <p:spPr bwMode="gray">
            <a:xfrm>
              <a:off x="3264" y="2736"/>
              <a:ext cx="1350" cy="1168"/>
            </a:xfrm>
            <a:prstGeom prst="hexagon">
              <a:avLst>
                <a:gd name="adj" fmla="val 28896"/>
                <a:gd name="vf" fmla="val 115470"/>
              </a:avLst>
            </a:prstGeom>
            <a:solidFill>
              <a:srgbClr val="8B177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21" name="Line 25">
            <a:extLst>
              <a:ext uri="{FF2B5EF4-FFF2-40B4-BE49-F238E27FC236}">
                <a16:creationId xmlns:a16="http://schemas.microsoft.com/office/drawing/2014/main" id="{7187F350-8159-4EFB-581E-EB9C96D38D04}"/>
              </a:ext>
            </a:extLst>
          </p:cNvPr>
          <p:cNvSpPr>
            <a:spLocks noChangeShapeType="1"/>
          </p:cNvSpPr>
          <p:nvPr/>
        </p:nvSpPr>
        <p:spPr bwMode="auto">
          <a:xfrm>
            <a:off x="3962400" y="3013398"/>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2" name="Text Box 26">
            <a:extLst>
              <a:ext uri="{FF2B5EF4-FFF2-40B4-BE49-F238E27FC236}">
                <a16:creationId xmlns:a16="http://schemas.microsoft.com/office/drawing/2014/main" id="{5E3FB88B-116B-8ADF-C2DD-04B8FCC67FA8}"/>
              </a:ext>
            </a:extLst>
          </p:cNvPr>
          <p:cNvSpPr txBox="1">
            <a:spLocks noChangeArrowheads="1"/>
          </p:cNvSpPr>
          <p:nvPr/>
        </p:nvSpPr>
        <p:spPr bwMode="auto">
          <a:xfrm>
            <a:off x="4191000" y="2456984"/>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err="1">
                <a:latin typeface="Arial" panose="020B0604020202020204" pitchFamily="34" charset="0"/>
                <a:cs typeface="Arial" panose="020B0604020202020204" pitchFamily="34" charset="0"/>
              </a:rPr>
              <a:t>Mô</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hình</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học</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máy</a:t>
            </a:r>
            <a:endParaRPr lang="en-US" b="1" dirty="0">
              <a:latin typeface="Arial" panose="020B0604020202020204" pitchFamily="34" charset="0"/>
              <a:cs typeface="Arial" panose="020B0604020202020204" pitchFamily="34" charset="0"/>
            </a:endParaRPr>
          </a:p>
        </p:txBody>
      </p:sp>
      <p:sp>
        <p:nvSpPr>
          <p:cNvPr id="23" name="Text Box 27">
            <a:extLst>
              <a:ext uri="{FF2B5EF4-FFF2-40B4-BE49-F238E27FC236}">
                <a16:creationId xmlns:a16="http://schemas.microsoft.com/office/drawing/2014/main" id="{EA3C15DF-1FFD-F6EE-9E9A-436FFA1F0C79}"/>
              </a:ext>
            </a:extLst>
          </p:cNvPr>
          <p:cNvSpPr txBox="1">
            <a:spLocks noChangeArrowheads="1"/>
          </p:cNvSpPr>
          <p:nvPr/>
        </p:nvSpPr>
        <p:spPr bwMode="gray">
          <a:xfrm>
            <a:off x="3573429" y="2469017"/>
            <a:ext cx="3545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a:t>
            </a:r>
          </a:p>
        </p:txBody>
      </p:sp>
      <p:sp>
        <p:nvSpPr>
          <p:cNvPr id="24" name="Line 28">
            <a:extLst>
              <a:ext uri="{FF2B5EF4-FFF2-40B4-BE49-F238E27FC236}">
                <a16:creationId xmlns:a16="http://schemas.microsoft.com/office/drawing/2014/main" id="{D683ED74-CB2A-A3EF-9960-36193329A3F7}"/>
              </a:ext>
            </a:extLst>
          </p:cNvPr>
          <p:cNvSpPr>
            <a:spLocks noChangeShapeType="1"/>
          </p:cNvSpPr>
          <p:nvPr/>
        </p:nvSpPr>
        <p:spPr bwMode="auto">
          <a:xfrm>
            <a:off x="3962400" y="5173638"/>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5" name="Text Box 29">
            <a:extLst>
              <a:ext uri="{FF2B5EF4-FFF2-40B4-BE49-F238E27FC236}">
                <a16:creationId xmlns:a16="http://schemas.microsoft.com/office/drawing/2014/main" id="{653538C7-979F-7030-4CF6-E6D733FBC038}"/>
              </a:ext>
            </a:extLst>
          </p:cNvPr>
          <p:cNvSpPr txBox="1">
            <a:spLocks noChangeArrowheads="1"/>
          </p:cNvSpPr>
          <p:nvPr/>
        </p:nvSpPr>
        <p:spPr bwMode="auto">
          <a:xfrm>
            <a:off x="4191000" y="4626354"/>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b="1" dirty="0">
                <a:latin typeface="Arial" panose="020B0604020202020204" pitchFamily="34" charset="0"/>
                <a:ea typeface="Tahoma" pitchFamily="34" charset="0"/>
                <a:cs typeface="Arial" panose="020B0604020202020204" pitchFamily="34" charset="0"/>
              </a:rPr>
              <a:t>Demo </a:t>
            </a:r>
            <a:r>
              <a:rPr lang="en-US" sz="2800" b="1" dirty="0" err="1">
                <a:latin typeface="Arial" panose="020B0604020202020204" pitchFamily="34" charset="0"/>
                <a:ea typeface="Tahoma" pitchFamily="34" charset="0"/>
                <a:cs typeface="Arial" panose="020B0604020202020204" pitchFamily="34" charset="0"/>
              </a:rPr>
              <a:t>chương</a:t>
            </a:r>
            <a:r>
              <a:rPr lang="en-US" sz="2800" b="1" dirty="0">
                <a:latin typeface="Arial" panose="020B0604020202020204" pitchFamily="34" charset="0"/>
                <a:ea typeface="Tahoma" pitchFamily="34" charset="0"/>
                <a:cs typeface="Arial" panose="020B0604020202020204" pitchFamily="34" charset="0"/>
              </a:rPr>
              <a:t> </a:t>
            </a:r>
            <a:r>
              <a:rPr lang="en-US" sz="2800" b="1" dirty="0" err="1">
                <a:latin typeface="Arial" panose="020B0604020202020204" pitchFamily="34" charset="0"/>
                <a:ea typeface="Tahoma" pitchFamily="34" charset="0"/>
                <a:cs typeface="Arial" panose="020B0604020202020204" pitchFamily="34" charset="0"/>
              </a:rPr>
              <a:t>trình</a:t>
            </a:r>
            <a:endParaRPr lang="en-US" sz="2800" b="1" dirty="0">
              <a:latin typeface="Arial" panose="020B0604020202020204" pitchFamily="34" charset="0"/>
              <a:ea typeface="Tahoma" pitchFamily="34" charset="0"/>
              <a:cs typeface="Arial" panose="020B0604020202020204" pitchFamily="34" charset="0"/>
            </a:endParaRPr>
          </a:p>
        </p:txBody>
      </p:sp>
      <p:sp>
        <p:nvSpPr>
          <p:cNvPr id="26" name="Text Box 30">
            <a:extLst>
              <a:ext uri="{FF2B5EF4-FFF2-40B4-BE49-F238E27FC236}">
                <a16:creationId xmlns:a16="http://schemas.microsoft.com/office/drawing/2014/main" id="{3832DAC6-4BF8-5B5A-775F-5F57D86B6357}"/>
              </a:ext>
            </a:extLst>
          </p:cNvPr>
          <p:cNvSpPr txBox="1">
            <a:spLocks noChangeArrowheads="1"/>
          </p:cNvSpPr>
          <p:nvPr/>
        </p:nvSpPr>
        <p:spPr bwMode="gray">
          <a:xfrm>
            <a:off x="3501285" y="4605843"/>
            <a:ext cx="474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IV</a:t>
            </a:r>
          </a:p>
        </p:txBody>
      </p:sp>
      <p:sp>
        <p:nvSpPr>
          <p:cNvPr id="27" name="Line 25">
            <a:extLst>
              <a:ext uri="{FF2B5EF4-FFF2-40B4-BE49-F238E27FC236}">
                <a16:creationId xmlns:a16="http://schemas.microsoft.com/office/drawing/2014/main" id="{0960904C-B6F1-3E21-C943-B87EC9CCFF5E}"/>
              </a:ext>
            </a:extLst>
          </p:cNvPr>
          <p:cNvSpPr>
            <a:spLocks noChangeShapeType="1"/>
          </p:cNvSpPr>
          <p:nvPr/>
        </p:nvSpPr>
        <p:spPr bwMode="auto">
          <a:xfrm>
            <a:off x="3959696" y="407707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nvGrpSpPr>
          <p:cNvPr id="28" name="Group 17">
            <a:extLst>
              <a:ext uri="{FF2B5EF4-FFF2-40B4-BE49-F238E27FC236}">
                <a16:creationId xmlns:a16="http://schemas.microsoft.com/office/drawing/2014/main" id="{014DF8A7-2201-795F-FD41-BFB11C6B84F8}"/>
              </a:ext>
            </a:extLst>
          </p:cNvPr>
          <p:cNvGrpSpPr>
            <a:grpSpLocks/>
          </p:cNvGrpSpPr>
          <p:nvPr/>
        </p:nvGrpSpPr>
        <p:grpSpPr bwMode="auto">
          <a:xfrm>
            <a:off x="3359696" y="3411910"/>
            <a:ext cx="762000" cy="665162"/>
            <a:chOff x="1110" y="2656"/>
            <a:chExt cx="1549" cy="1351"/>
          </a:xfrm>
        </p:grpSpPr>
        <p:sp>
          <p:nvSpPr>
            <p:cNvPr id="29" name="AutoShape 18">
              <a:extLst>
                <a:ext uri="{FF2B5EF4-FFF2-40B4-BE49-F238E27FC236}">
                  <a16:creationId xmlns:a16="http://schemas.microsoft.com/office/drawing/2014/main" id="{6C076EBE-6065-BF12-ACAC-51C57DC55A7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30" name="AutoShape 19">
              <a:extLst>
                <a:ext uri="{FF2B5EF4-FFF2-40B4-BE49-F238E27FC236}">
                  <a16:creationId xmlns:a16="http://schemas.microsoft.com/office/drawing/2014/main" id="{D2B5C49B-4FDE-D916-B328-12F15C99AA0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31" name="AutoShape 20">
              <a:extLst>
                <a:ext uri="{FF2B5EF4-FFF2-40B4-BE49-F238E27FC236}">
                  <a16:creationId xmlns:a16="http://schemas.microsoft.com/office/drawing/2014/main" id="{8ABAFF9A-4B40-2DBF-4F70-DB0DAE6863A2}"/>
                </a:ext>
              </a:extLst>
            </p:cNvPr>
            <p:cNvSpPr>
              <a:spLocks noChangeArrowheads="1"/>
            </p:cNvSpPr>
            <p:nvPr/>
          </p:nvSpPr>
          <p:spPr bwMode="gray">
            <a:xfrm>
              <a:off x="1200" y="2736"/>
              <a:ext cx="1350" cy="1168"/>
            </a:xfrm>
            <a:prstGeom prst="hexagon">
              <a:avLst>
                <a:gd name="adj" fmla="val 28896"/>
                <a:gd name="vf" fmla="val 115470"/>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32" name="Text Box 27">
            <a:extLst>
              <a:ext uri="{FF2B5EF4-FFF2-40B4-BE49-F238E27FC236}">
                <a16:creationId xmlns:a16="http://schemas.microsoft.com/office/drawing/2014/main" id="{3537DD75-CC03-E2A6-F764-F753ED29C8B7}"/>
              </a:ext>
            </a:extLst>
          </p:cNvPr>
          <p:cNvSpPr txBox="1">
            <a:spLocks noChangeArrowheads="1"/>
          </p:cNvSpPr>
          <p:nvPr/>
        </p:nvSpPr>
        <p:spPr bwMode="gray">
          <a:xfrm>
            <a:off x="3518186" y="3525073"/>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A7E5CBBE-320A-85FE-C027-74ACF4A12B7B}"/>
            </a:ext>
          </a:extLst>
        </p:cNvPr>
        <p:cNvGrpSpPr/>
        <p:nvPr/>
      </p:nvGrpSpPr>
      <p:grpSpPr>
        <a:xfrm>
          <a:off x="0" y="0"/>
          <a:ext cx="0" cy="0"/>
          <a:chOff x="0" y="0"/>
          <a:chExt cx="0" cy="0"/>
        </a:xfrm>
      </p:grpSpPr>
      <p:sp>
        <p:nvSpPr>
          <p:cNvPr id="268" name="Google Shape;268;p3">
            <a:extLst>
              <a:ext uri="{FF2B5EF4-FFF2-40B4-BE49-F238E27FC236}">
                <a16:creationId xmlns:a16="http://schemas.microsoft.com/office/drawing/2014/main" id="{8A047B15-E231-FFA3-48F8-DAB6DFA2211B}"/>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sz="1400" b="1" dirty="0">
                <a:solidFill>
                  <a:srgbClr val="B2B2B2"/>
                </a:solidFill>
                <a:latin typeface="Arial"/>
                <a:cs typeface="Arial"/>
                <a:sym typeface="Arial"/>
              </a:rPr>
              <a:t>2</a:t>
            </a:r>
            <a:r>
              <a:rPr lang="en-US" dirty="0"/>
              <a:t>/15</a:t>
            </a:r>
            <a:endParaRPr lang="en-US" sz="1400" b="0" i="0" u="none" strike="noStrike" cap="none" dirty="0">
              <a:solidFill>
                <a:srgbClr val="B2B2B2"/>
              </a:solidFill>
              <a:latin typeface="Times New Roman"/>
              <a:ea typeface="Times New Roman"/>
              <a:cs typeface="Times New Roman"/>
              <a:sym typeface="Times New Roman"/>
            </a:endParaRPr>
          </a:p>
        </p:txBody>
      </p:sp>
      <p:sp>
        <p:nvSpPr>
          <p:cNvPr id="269" name="Google Shape;269;p3">
            <a:extLst>
              <a:ext uri="{FF2B5EF4-FFF2-40B4-BE49-F238E27FC236}">
                <a16:creationId xmlns:a16="http://schemas.microsoft.com/office/drawing/2014/main" id="{55EA7984-810D-1AF3-CDE6-6F9A22D03B78}"/>
              </a:ext>
            </a:extLst>
          </p:cNvPr>
          <p:cNvSpPr txBox="1">
            <a:spLocks noGrp="1"/>
          </p:cNvSpPr>
          <p:nvPr>
            <p:ph type="title" idx="4294967295"/>
          </p:nvPr>
        </p:nvSpPr>
        <p:spPr>
          <a:xfrm>
            <a:off x="842377" y="0"/>
            <a:ext cx="11349023" cy="862177"/>
          </a:xfrm>
          <a:prstGeom prst="rect">
            <a:avLst/>
          </a:prstGeom>
          <a:solidFill>
            <a:srgbClr val="FFD966"/>
          </a:solidFill>
          <a:ln>
            <a:noFill/>
          </a:ln>
        </p:spPr>
        <p:txBody>
          <a:bodyPr spcFirstLastPara="1" wrap="square" lIns="90000" tIns="45000" rIns="90000" bIns="45000" anchor="ctr" anchorCtr="0">
            <a:normAutofit/>
          </a:bodyPr>
          <a:lstStyle/>
          <a:p>
            <a:pPr>
              <a:lnSpc>
                <a:spcPct val="90000"/>
              </a:lnSpc>
            </a:pPr>
            <a:r>
              <a:rPr lang="en-US" sz="3200" b="1">
                <a:latin typeface="Roboto" panose="02000000000000000000" pitchFamily="2" charset="0"/>
                <a:ea typeface="Roboto" panose="02000000000000000000" pitchFamily="2" charset="0"/>
                <a:cs typeface="Roboto" panose="02000000000000000000" pitchFamily="2" charset="0"/>
              </a:rPr>
              <a:t>I. Tổng quan bài toán</a:t>
            </a:r>
            <a:endParaRPr lang="en-US" sz="3200" b="1"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141F7A24-3FF4-6A93-EF77-7238821D1DAD}"/>
              </a:ext>
            </a:extLst>
          </p:cNvPr>
          <p:cNvSpPr txBox="1"/>
          <p:nvPr/>
        </p:nvSpPr>
        <p:spPr>
          <a:xfrm>
            <a:off x="226866" y="1185685"/>
            <a:ext cx="110088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vi-VN" sz="2000" dirty="0"/>
              <a:t>Bài toán dự đoán nhiệt độ theo ngày là một bài toán hồi quy trên dữ liệu chuỗi thời gian, trong đó mô hình học từ nhiệt độ của các ngày trước để dự đoán nhiệt độ của các ngày tiếp theo. Nghiên cứu tập trung vào dự báo ngắn hạn và đánh giá hiệu quả của mô hình LSTM trong khai phá xu hướng nhiệt độ.</a:t>
            </a:r>
            <a:endParaRPr lang="en-US" dirty="0"/>
          </a:p>
        </p:txBody>
      </p:sp>
      <p:pic>
        <p:nvPicPr>
          <p:cNvPr id="3" name="Picture 2" descr="Tập tin:Logo Trường Đại học Sư phạm Kỹ thuật Hưng Yên.svg – Wikipedia tiếng  Việt">
            <a:extLst>
              <a:ext uri="{FF2B5EF4-FFF2-40B4-BE49-F238E27FC236}">
                <a16:creationId xmlns:a16="http://schemas.microsoft.com/office/drawing/2014/main" id="{87446234-D358-ED04-CA46-D9025AB2A656}"/>
              </a:ext>
            </a:extLst>
          </p:cNvPr>
          <p:cNvPicPr>
            <a:picLocks noChangeAspect="1"/>
          </p:cNvPicPr>
          <p:nvPr/>
        </p:nvPicPr>
        <p:blipFill>
          <a:blip r:embed="rId3"/>
          <a:stretch>
            <a:fillRect/>
          </a:stretch>
        </p:blipFill>
        <p:spPr>
          <a:xfrm>
            <a:off x="-2966" y="1844"/>
            <a:ext cx="854195" cy="867302"/>
          </a:xfrm>
          <a:prstGeom prst="rect">
            <a:avLst/>
          </a:prstGeom>
        </p:spPr>
      </p:pic>
      <p:sp>
        <p:nvSpPr>
          <p:cNvPr id="4" name="Google Shape;262;p2">
            <a:extLst>
              <a:ext uri="{FF2B5EF4-FFF2-40B4-BE49-F238E27FC236}">
                <a16:creationId xmlns:a16="http://schemas.microsoft.com/office/drawing/2014/main" id="{968FD8A5-EEB8-CBEA-245E-41337A0904FA}"/>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lang="en-US" sz="1400" b="0" i="0" u="none" strike="noStrike" cap="none" dirty="0">
              <a:solidFill>
                <a:srgbClr val="B2B2B2"/>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5CDB5605-B314-39DD-B932-FF6A015DF79E}"/>
              </a:ext>
            </a:extLst>
          </p:cNvPr>
          <p:cNvPicPr>
            <a:picLocks noChangeAspect="1"/>
          </p:cNvPicPr>
          <p:nvPr/>
        </p:nvPicPr>
        <p:blipFill>
          <a:blip r:embed="rId4"/>
          <a:stretch>
            <a:fillRect/>
          </a:stretch>
        </p:blipFill>
        <p:spPr>
          <a:xfrm>
            <a:off x="4590853" y="2763689"/>
            <a:ext cx="6551629" cy="3170376"/>
          </a:xfrm>
          <a:prstGeom prst="rect">
            <a:avLst/>
          </a:prstGeom>
        </p:spPr>
      </p:pic>
    </p:spTree>
    <p:extLst>
      <p:ext uri="{BB962C8B-B14F-4D97-AF65-F5344CB8AC3E}">
        <p14:creationId xmlns:p14="http://schemas.microsoft.com/office/powerpoint/2010/main" val="271177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5"/>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sz="1400" b="1" dirty="0">
                <a:solidFill>
                  <a:srgbClr val="B2B2B2"/>
                </a:solidFill>
                <a:latin typeface="Arial"/>
                <a:cs typeface="Arial"/>
                <a:sym typeface="Arial"/>
              </a:rPr>
              <a:t>3</a:t>
            </a:r>
            <a:r>
              <a:rPr lang="en-US" dirty="0"/>
              <a:t>/15</a:t>
            </a:r>
            <a:endParaRPr sz="1400" b="0" i="0" u="none" strike="noStrike" cap="none" dirty="0">
              <a:solidFill>
                <a:srgbClr val="B2B2B2"/>
              </a:solidFill>
              <a:latin typeface="Times New Roman"/>
              <a:ea typeface="Times New Roman"/>
              <a:cs typeface="Times New Roman"/>
              <a:sym typeface="Times New Roman"/>
            </a:endParaRPr>
          </a:p>
        </p:txBody>
      </p:sp>
      <p:sp>
        <p:nvSpPr>
          <p:cNvPr id="289" name="Google Shape;289;p5"/>
          <p:cNvSpPr txBox="1">
            <a:spLocks noGrp="1"/>
          </p:cNvSpPr>
          <p:nvPr>
            <p:ph type="title" idx="4294967295"/>
          </p:nvPr>
        </p:nvSpPr>
        <p:spPr>
          <a:xfrm>
            <a:off x="828000" y="0"/>
            <a:ext cx="11363400" cy="847800"/>
          </a:xfrm>
          <a:prstGeom prst="rect">
            <a:avLst/>
          </a:prstGeom>
          <a:solidFill>
            <a:srgbClr val="FFD966"/>
          </a:solidFill>
          <a:ln>
            <a:noFill/>
          </a:ln>
        </p:spPr>
        <p:txBody>
          <a:bodyPr spcFirstLastPara="1" wrap="square" lIns="90000" tIns="45000" rIns="90000" bIns="45000" anchor="ctr" anchorCtr="0">
            <a:normAutofit/>
          </a:bodyPr>
          <a:lstStyle/>
          <a:p>
            <a:r>
              <a:rPr lang="en-US" sz="3200" b="1" dirty="0">
                <a:latin typeface="Roboto"/>
                <a:ea typeface="Roboto"/>
                <a:cs typeface="Roboto"/>
              </a:rPr>
              <a:t>II. </a:t>
            </a:r>
            <a:r>
              <a:rPr lang="en-US" sz="3200" b="1" dirty="0" err="1">
                <a:latin typeface="Roboto"/>
                <a:ea typeface="Roboto"/>
                <a:cs typeface="Roboto"/>
              </a:rPr>
              <a:t>Mô</a:t>
            </a:r>
            <a:r>
              <a:rPr lang="en-US" sz="3200" b="1" dirty="0">
                <a:latin typeface="Roboto"/>
                <a:ea typeface="Roboto"/>
                <a:cs typeface="Roboto"/>
              </a:rPr>
              <a:t> </a:t>
            </a:r>
            <a:r>
              <a:rPr lang="en-US" sz="3200" b="1" dirty="0" err="1">
                <a:latin typeface="Roboto"/>
                <a:ea typeface="Roboto"/>
                <a:cs typeface="Roboto"/>
              </a:rPr>
              <a:t>hình</a:t>
            </a:r>
            <a:r>
              <a:rPr lang="en-US" sz="3200" b="1" dirty="0">
                <a:latin typeface="Roboto"/>
                <a:ea typeface="Roboto"/>
                <a:cs typeface="Roboto"/>
              </a:rPr>
              <a:t> </a:t>
            </a:r>
            <a:r>
              <a:rPr lang="en-US" sz="3200" b="1" dirty="0" err="1">
                <a:latin typeface="Roboto"/>
                <a:ea typeface="Roboto"/>
                <a:cs typeface="Roboto"/>
              </a:rPr>
              <a:t>học</a:t>
            </a:r>
            <a:r>
              <a:rPr lang="en-US" sz="3200" b="1" dirty="0">
                <a:latin typeface="Roboto"/>
                <a:ea typeface="Roboto"/>
                <a:cs typeface="Roboto"/>
              </a:rPr>
              <a:t> </a:t>
            </a:r>
            <a:r>
              <a:rPr lang="en-US" sz="3200" b="1" dirty="0" err="1">
                <a:latin typeface="Roboto"/>
                <a:ea typeface="Roboto"/>
                <a:cs typeface="Roboto"/>
              </a:rPr>
              <a:t>máy</a:t>
            </a:r>
            <a:endParaRPr lang="en-US" sz="3200" b="1" dirty="0"/>
          </a:p>
        </p:txBody>
      </p:sp>
      <p:sp>
        <p:nvSpPr>
          <p:cNvPr id="290" name="Google Shape;290;p5"/>
          <p:cNvSpPr/>
          <p:nvPr/>
        </p:nvSpPr>
        <p:spPr>
          <a:xfrm>
            <a:off x="3124080" y="1766880"/>
            <a:ext cx="5942880" cy="332352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descr="Tập tin:Logo Trường Đại học Sư phạm Kỹ thuật Hưng Yên.svg – Wikipedia tiếng  Việt">
            <a:extLst>
              <a:ext uri="{FF2B5EF4-FFF2-40B4-BE49-F238E27FC236}">
                <a16:creationId xmlns:a16="http://schemas.microsoft.com/office/drawing/2014/main" id="{DC56A8A7-79C3-E0AE-A841-21754C625E6E}"/>
              </a:ext>
            </a:extLst>
          </p:cNvPr>
          <p:cNvPicPr>
            <a:picLocks noChangeAspect="1"/>
          </p:cNvPicPr>
          <p:nvPr/>
        </p:nvPicPr>
        <p:blipFill>
          <a:blip r:embed="rId3"/>
          <a:stretch>
            <a:fillRect/>
          </a:stretch>
        </p:blipFill>
        <p:spPr>
          <a:xfrm>
            <a:off x="-2965" y="-359"/>
            <a:ext cx="841905" cy="861274"/>
          </a:xfrm>
          <a:prstGeom prst="rect">
            <a:avLst/>
          </a:prstGeom>
        </p:spPr>
      </p:pic>
      <p:sp>
        <p:nvSpPr>
          <p:cNvPr id="4" name="Google Shape;262;p2">
            <a:extLst>
              <a:ext uri="{FF2B5EF4-FFF2-40B4-BE49-F238E27FC236}">
                <a16:creationId xmlns:a16="http://schemas.microsoft.com/office/drawing/2014/main" id="{78DE2617-ED53-7C0B-71F9-CA4B7FAE49B7}"/>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
        <p:nvSpPr>
          <p:cNvPr id="7" name="內容版面配置區 2">
            <a:extLst>
              <a:ext uri="{FF2B5EF4-FFF2-40B4-BE49-F238E27FC236}">
                <a16:creationId xmlns:a16="http://schemas.microsoft.com/office/drawing/2014/main" id="{F0DA4472-2D4E-5ABC-6982-A08835226275}"/>
              </a:ext>
            </a:extLst>
          </p:cNvPr>
          <p:cNvSpPr txBox="1">
            <a:spLocks/>
          </p:cNvSpPr>
          <p:nvPr/>
        </p:nvSpPr>
        <p:spPr>
          <a:xfrm>
            <a:off x="659396" y="1280160"/>
            <a:ext cx="10873208" cy="4297680"/>
          </a:xfrm>
          <a:prstGeom prst="rect">
            <a:avLst/>
          </a:prstGeom>
        </p:spPr>
        <p:txBody>
          <a:bodyPr vert="horz"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ctr">
              <a:lnSpc>
                <a:spcPct val="150000"/>
              </a:lnSpc>
            </a:pPr>
            <a:r>
              <a:rPr lang="en-US" altLang="zh-CN" sz="2400" dirty="0">
                <a:latin typeface="Arial" panose="020B0604020202020204" pitchFamily="34" charset="0"/>
                <a:cs typeface="Arial" panose="020B0604020202020204" pitchFamily="34" charset="0"/>
              </a:rPr>
              <a:t>Các </a:t>
            </a:r>
            <a:r>
              <a:rPr lang="en-US" altLang="zh-CN" sz="2400" dirty="0" err="1">
                <a:latin typeface="Arial" panose="020B0604020202020204" pitchFamily="34" charset="0"/>
                <a:cs typeface="Arial" panose="020B0604020202020204" pitchFamily="34" charset="0"/>
              </a:rPr>
              <a:t>mô</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hình</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sử</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dụng</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trong</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bài</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toán</a:t>
            </a:r>
            <a:r>
              <a:rPr lang="en-US" altLang="zh-CN" sz="2400" dirty="0">
                <a:latin typeface="Arial" panose="020B0604020202020204" pitchFamily="34" charset="0"/>
                <a:cs typeface="Arial" panose="020B0604020202020204" pitchFamily="34" charset="0"/>
              </a:rPr>
              <a:t>:</a:t>
            </a:r>
          </a:p>
          <a:p>
            <a:pPr marL="457197" lvl="1" indent="0" algn="just" fontAlgn="ctr">
              <a:lnSpc>
                <a:spcPct val="150000"/>
              </a:lnSpc>
              <a:buFont typeface="Arial" panose="020B0604020202020204" pitchFamily="34" charset="0"/>
              <a:buNone/>
            </a:pPr>
            <a:r>
              <a:rPr lang="en-US" altLang="zh-CN" dirty="0">
                <a:latin typeface="Arial" panose="020B0604020202020204" pitchFamily="34" charset="0"/>
                <a:cs typeface="Arial" panose="020B0604020202020204" pitchFamily="34" charset="0"/>
              </a:rPr>
              <a:t>1. Linear Regression</a:t>
            </a:r>
          </a:p>
          <a:p>
            <a:pPr marL="457197" lvl="1" indent="0" algn="just" fontAlgn="ctr">
              <a:lnSpc>
                <a:spcPct val="150000"/>
              </a:lnSpc>
              <a:buFont typeface="Arial" panose="020B0604020202020204" pitchFamily="34" charset="0"/>
              <a:buNone/>
            </a:pPr>
            <a:r>
              <a:rPr lang="en-US" altLang="zh-CN" dirty="0">
                <a:latin typeface="Arial" panose="020B0604020202020204" pitchFamily="34" charset="0"/>
                <a:cs typeface="Arial" panose="020B0604020202020204" pitchFamily="34" charset="0"/>
              </a:rPr>
              <a:t>2. LSTM</a:t>
            </a:r>
          </a:p>
          <a:p>
            <a:pPr marL="457197" lvl="1" indent="0" algn="just" fontAlgn="ctr">
              <a:lnSpc>
                <a:spcPct val="150000"/>
              </a:lnSpc>
              <a:buFont typeface="Arial" panose="020B0604020202020204" pitchFamily="34" charset="0"/>
              <a:buNone/>
            </a:pPr>
            <a:r>
              <a:rPr lang="en-US" altLang="zh-CN" dirty="0">
                <a:latin typeface="Arial" panose="020B0604020202020204" pitchFamily="34" charset="0"/>
                <a:cs typeface="Arial" panose="020B0604020202020204" pitchFamily="34" charset="0"/>
              </a:rPr>
              <a:t>3. Random Forest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6"/>
          <p:cNvSpPr txBox="1">
            <a:spLocks noGrp="1"/>
          </p:cNvSpPr>
          <p:nvPr>
            <p:ph type="sldNum" idx="12"/>
          </p:nvPr>
        </p:nvSpPr>
        <p:spPr>
          <a:xfrm>
            <a:off x="8610600" y="6356350"/>
            <a:ext cx="2743200" cy="365125"/>
          </a:xfrm>
          <a:prstGeom prst="rect">
            <a:avLst/>
          </a:prstGeom>
        </p:spPr>
        <p:txBody>
          <a:bodyPr spcFirstLastPara="1" lIns="90000" tIns="45000" rIns="90000" bIns="45000" anchorCtr="0">
            <a:normAutofit/>
          </a:bodyPr>
          <a:lstStyle/>
          <a:p>
            <a:pPr marL="0" marR="0" lvl="0" indent="0" rtl="0">
              <a:lnSpc>
                <a:spcPct val="90000"/>
              </a:lnSpc>
              <a:spcBef>
                <a:spcPts val="0"/>
              </a:spcBef>
              <a:spcAft>
                <a:spcPts val="600"/>
              </a:spcAft>
              <a:buClr>
                <a:srgbClr val="B2B2B2"/>
              </a:buClr>
              <a:buSzPts val="1400"/>
              <a:buFont typeface="Arial"/>
              <a:buNone/>
            </a:pPr>
            <a:r>
              <a:rPr lang="en-US" b="1" dirty="0">
                <a:latin typeface="Arial"/>
                <a:cs typeface="Arial"/>
                <a:sym typeface="Arial"/>
              </a:rPr>
              <a:t>4</a:t>
            </a:r>
            <a:r>
              <a:rPr lang="en-US" dirty="0"/>
              <a:t>/15</a:t>
            </a:r>
            <a:endParaRPr lang="en-US" b="0" i="0" u="none" strike="noStrike" cap="none" dirty="0">
              <a:latin typeface="Times New Roman"/>
              <a:ea typeface="Times New Roman"/>
              <a:cs typeface="Times New Roman"/>
              <a:sym typeface="Times New Roman"/>
            </a:endParaRPr>
          </a:p>
        </p:txBody>
      </p:sp>
      <p:sp>
        <p:nvSpPr>
          <p:cNvPr id="301" name="Google Shape;301;p6"/>
          <p:cNvSpPr txBox="1">
            <a:spLocks noGrp="1"/>
          </p:cNvSpPr>
          <p:nvPr>
            <p:ph type="title" idx="4294967295"/>
          </p:nvPr>
        </p:nvSpPr>
        <p:spPr>
          <a:xfrm>
            <a:off x="931114" y="0"/>
            <a:ext cx="11260285"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US" sz="3200" b="1" dirty="0" err="1">
                <a:latin typeface="Roboto" panose="02000000000000000000" pitchFamily="2" charset="0"/>
                <a:ea typeface="Roboto" panose="02000000000000000000" pitchFamily="2" charset="0"/>
                <a:cs typeface="Roboto" panose="02000000000000000000" pitchFamily="2" charset="0"/>
              </a:rPr>
              <a:t>Mô</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hình</a:t>
            </a:r>
            <a:r>
              <a:rPr lang="en-US" sz="3200" b="1" dirty="0">
                <a:latin typeface="Roboto" panose="02000000000000000000" pitchFamily="2" charset="0"/>
                <a:ea typeface="Roboto" panose="02000000000000000000" pitchFamily="2" charset="0"/>
                <a:cs typeface="Roboto" panose="02000000000000000000" pitchFamily="2" charset="0"/>
              </a:rPr>
              <a:t> Linear Regression</a:t>
            </a:r>
          </a:p>
        </p:txBody>
      </p:sp>
      <p:pic>
        <p:nvPicPr>
          <p:cNvPr id="5" name="Picture 4" descr="Tập tin:Logo Trường Đại học Sư phạm Kỹ thuật Hưng Yên.svg – Wikipedia tiếng  Việt">
            <a:extLst>
              <a:ext uri="{FF2B5EF4-FFF2-40B4-BE49-F238E27FC236}">
                <a16:creationId xmlns:a16="http://schemas.microsoft.com/office/drawing/2014/main" id="{C5A3A69A-2CDA-BEB5-5CC8-6298BFA806FB}"/>
              </a:ext>
            </a:extLst>
          </p:cNvPr>
          <p:cNvPicPr>
            <a:picLocks noChangeAspect="1"/>
          </p:cNvPicPr>
          <p:nvPr/>
        </p:nvPicPr>
        <p:blipFill>
          <a:blip r:embed="rId3"/>
          <a:stretch>
            <a:fillRect/>
          </a:stretch>
        </p:blipFill>
        <p:spPr>
          <a:xfrm>
            <a:off x="-9112" y="1844"/>
            <a:ext cx="940227" cy="867302"/>
          </a:xfrm>
          <a:prstGeom prst="rect">
            <a:avLst/>
          </a:prstGeom>
        </p:spPr>
      </p:pic>
      <p:sp>
        <p:nvSpPr>
          <p:cNvPr id="3" name="Google Shape;262;p2">
            <a:extLst>
              <a:ext uri="{FF2B5EF4-FFF2-40B4-BE49-F238E27FC236}">
                <a16:creationId xmlns:a16="http://schemas.microsoft.com/office/drawing/2014/main" id="{B56898CF-8DE4-9D4B-5995-B72EBD03BDB9}"/>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89F4BAE1-6162-0A0B-DDBA-049675F19A3A}"/>
              </a:ext>
            </a:extLst>
          </p:cNvPr>
          <p:cNvSpPr txBox="1"/>
          <p:nvPr/>
        </p:nvSpPr>
        <p:spPr>
          <a:xfrm>
            <a:off x="767408" y="1127514"/>
            <a:ext cx="10657184" cy="172810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Định </a:t>
            </a:r>
            <a:r>
              <a:rPr lang="en-US" sz="2000" dirty="0" err="1">
                <a:latin typeface="Arial" panose="020B0604020202020204" pitchFamily="34" charset="0"/>
                <a:cs typeface="Arial" panose="020B0604020202020204" pitchFamily="34" charset="0"/>
              </a:rPr>
              <a:t>nghĩa</a:t>
            </a:r>
            <a:r>
              <a:rPr lang="en-US" sz="2000" dirty="0">
                <a:latin typeface="Arial" panose="020B0604020202020204" pitchFamily="34" charset="0"/>
                <a:cs typeface="Arial" panose="020B0604020202020204" pitchFamily="34" charset="0"/>
              </a:rPr>
              <a:t>: Linear Regression (</a:t>
            </a:r>
            <a:r>
              <a:rPr lang="en-US" sz="2000" dirty="0" err="1">
                <a:latin typeface="Arial" panose="020B0604020202020204" pitchFamily="34" charset="0"/>
                <a:cs typeface="Arial" panose="020B0604020202020204" pitchFamily="34" charset="0"/>
              </a:rPr>
              <a:t>Hồi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máy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hồi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a:t>
            </a:r>
          </a:p>
          <a:p>
            <a:r>
              <a:rPr lang="en-US" sz="2000" dirty="0" err="1">
                <a:latin typeface="Arial" panose="020B0604020202020204" pitchFamily="34" charset="0"/>
                <a:cs typeface="Arial" panose="020B0604020202020204" pitchFamily="34" charset="0"/>
              </a:rPr>
              <a:t>Mô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giữa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phụ</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nhằm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tục</a:t>
            </a:r>
            <a:r>
              <a:rPr lang="en-US" sz="2000" dirty="0">
                <a:latin typeface="Arial" panose="020B0604020202020204" pitchFamily="34" charset="0"/>
                <a:cs typeface="Arial" panose="020B0604020202020204" pitchFamily="34" charset="0"/>
              </a:rPr>
              <a:t>.</a:t>
            </a:r>
          </a:p>
          <a:p>
            <a:pPr>
              <a:lnSpc>
                <a:spcPct val="150000"/>
              </a:lnSpc>
            </a:pPr>
            <a:r>
              <a:rPr lang="en-US" sz="2000" dirty="0">
                <a:latin typeface="Arial" panose="020B0604020202020204" pitchFamily="34" charset="0"/>
                <a:cs typeface="Arial" panose="020B0604020202020204" pitchFamily="34" charset="0"/>
              </a:rPr>
              <a:t>.</a:t>
            </a:r>
            <a:endParaRPr lang="en-VN" sz="20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2841DBE-8F44-1A42-7A53-CD977ED1A8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3161" y="2492804"/>
            <a:ext cx="5185277" cy="34568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a:extLst>
            <a:ext uri="{FF2B5EF4-FFF2-40B4-BE49-F238E27FC236}">
              <a16:creationId xmlns:a16="http://schemas.microsoft.com/office/drawing/2014/main" id="{53633F54-4ECD-9F51-59CE-075A434401B6}"/>
            </a:ext>
          </a:extLst>
        </p:cNvPr>
        <p:cNvGrpSpPr/>
        <p:nvPr/>
      </p:nvGrpSpPr>
      <p:grpSpPr>
        <a:xfrm>
          <a:off x="0" y="0"/>
          <a:ext cx="0" cy="0"/>
          <a:chOff x="0" y="0"/>
          <a:chExt cx="0" cy="0"/>
        </a:xfrm>
      </p:grpSpPr>
      <p:sp>
        <p:nvSpPr>
          <p:cNvPr id="300" name="Google Shape;300;p6">
            <a:extLst>
              <a:ext uri="{FF2B5EF4-FFF2-40B4-BE49-F238E27FC236}">
                <a16:creationId xmlns:a16="http://schemas.microsoft.com/office/drawing/2014/main" id="{565EAA33-23B0-3C92-0EDE-7639943F5309}"/>
              </a:ext>
            </a:extLst>
          </p:cNvPr>
          <p:cNvSpPr txBox="1">
            <a:spLocks noGrp="1"/>
          </p:cNvSpPr>
          <p:nvPr>
            <p:ph type="sldNum" idx="12"/>
          </p:nvPr>
        </p:nvSpPr>
        <p:spPr>
          <a:xfrm>
            <a:off x="8610600" y="6356350"/>
            <a:ext cx="2743200" cy="365125"/>
          </a:xfrm>
          <a:prstGeom prst="rect">
            <a:avLst/>
          </a:prstGeom>
        </p:spPr>
        <p:txBody>
          <a:bodyPr spcFirstLastPara="1" lIns="90000" tIns="45000" rIns="90000" bIns="45000" anchorCtr="0">
            <a:normAutofit/>
          </a:bodyPr>
          <a:lstStyle/>
          <a:p>
            <a:pPr marL="0" marR="0" lvl="0" indent="0" rtl="0">
              <a:lnSpc>
                <a:spcPct val="90000"/>
              </a:lnSpc>
              <a:spcBef>
                <a:spcPts val="0"/>
              </a:spcBef>
              <a:spcAft>
                <a:spcPts val="600"/>
              </a:spcAft>
              <a:buClr>
                <a:srgbClr val="B2B2B2"/>
              </a:buClr>
              <a:buSzPts val="1400"/>
              <a:buFont typeface="Arial"/>
              <a:buNone/>
            </a:pPr>
            <a:r>
              <a:rPr lang="en-US" b="1" dirty="0">
                <a:latin typeface="Arial"/>
                <a:cs typeface="Arial"/>
                <a:sym typeface="Arial"/>
              </a:rPr>
              <a:t>5</a:t>
            </a:r>
            <a:r>
              <a:rPr lang="en-US" dirty="0"/>
              <a:t>/15</a:t>
            </a:r>
            <a:endParaRPr lang="en-US" b="0" i="0" u="none" strike="noStrike" cap="none" dirty="0">
              <a:latin typeface="Times New Roman"/>
              <a:ea typeface="Times New Roman"/>
              <a:cs typeface="Times New Roman"/>
              <a:sym typeface="Times New Roman"/>
            </a:endParaRPr>
          </a:p>
        </p:txBody>
      </p:sp>
      <p:sp>
        <p:nvSpPr>
          <p:cNvPr id="301" name="Google Shape;301;p6">
            <a:extLst>
              <a:ext uri="{FF2B5EF4-FFF2-40B4-BE49-F238E27FC236}">
                <a16:creationId xmlns:a16="http://schemas.microsoft.com/office/drawing/2014/main" id="{A01AB63D-4918-A173-9371-64379FE8BA61}"/>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US" sz="3200" b="1" dirty="0" err="1">
                <a:latin typeface="Roboto" panose="02000000000000000000" pitchFamily="2" charset="0"/>
                <a:ea typeface="Roboto" panose="02000000000000000000" pitchFamily="2" charset="0"/>
                <a:cs typeface="Roboto" panose="02000000000000000000" pitchFamily="2" charset="0"/>
              </a:rPr>
              <a:t>Mô</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hình</a:t>
            </a:r>
            <a:r>
              <a:rPr lang="en-US" sz="3200" b="1" dirty="0">
                <a:latin typeface="Roboto" panose="02000000000000000000" pitchFamily="2" charset="0"/>
                <a:ea typeface="Roboto" panose="02000000000000000000" pitchFamily="2" charset="0"/>
                <a:cs typeface="Roboto" panose="02000000000000000000" pitchFamily="2" charset="0"/>
              </a:rPr>
              <a:t> LSTM</a:t>
            </a:r>
          </a:p>
        </p:txBody>
      </p:sp>
      <p:pic>
        <p:nvPicPr>
          <p:cNvPr id="5" name="Picture 4" descr="Tập tin:Logo Trường Đại học Sư phạm Kỹ thuật Hưng Yên.svg – Wikipedia tiếng  Việt">
            <a:extLst>
              <a:ext uri="{FF2B5EF4-FFF2-40B4-BE49-F238E27FC236}">
                <a16:creationId xmlns:a16="http://schemas.microsoft.com/office/drawing/2014/main" id="{8664FD6D-3D72-2856-5359-59357CDCF940}"/>
              </a:ext>
            </a:extLst>
          </p:cNvPr>
          <p:cNvPicPr>
            <a:picLocks noChangeAspect="1"/>
          </p:cNvPicPr>
          <p:nvPr/>
        </p:nvPicPr>
        <p:blipFill>
          <a:blip r:embed="rId3"/>
          <a:stretch>
            <a:fillRect/>
          </a:stretch>
        </p:blipFill>
        <p:spPr>
          <a:xfrm>
            <a:off x="-2966" y="1844"/>
            <a:ext cx="854195" cy="867302"/>
          </a:xfrm>
          <a:prstGeom prst="rect">
            <a:avLst/>
          </a:prstGeom>
        </p:spPr>
      </p:pic>
      <p:sp>
        <p:nvSpPr>
          <p:cNvPr id="2" name="Google Shape;262;p2">
            <a:extLst>
              <a:ext uri="{FF2B5EF4-FFF2-40B4-BE49-F238E27FC236}">
                <a16:creationId xmlns:a16="http://schemas.microsoft.com/office/drawing/2014/main" id="{A1278DF5-440C-2E0E-CD89-30D7DCC292B3}"/>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1AD95264-431D-0E3C-6338-67CC36596225}"/>
              </a:ext>
            </a:extLst>
          </p:cNvPr>
          <p:cNvSpPr txBox="1"/>
          <p:nvPr/>
        </p:nvSpPr>
        <p:spPr>
          <a:xfrm>
            <a:off x="695400" y="1245003"/>
            <a:ext cx="10441160" cy="1881990"/>
          </a:xfrm>
          <a:prstGeom prst="rect">
            <a:avLst/>
          </a:prstGeom>
          <a:noFill/>
        </p:spPr>
        <p:txBody>
          <a:bodyPr wrap="square" rtlCol="0">
            <a:spAutoFit/>
          </a:bodyPr>
          <a:lstStyle/>
          <a:p>
            <a:pPr>
              <a:lnSpc>
                <a:spcPct val="150000"/>
              </a:lnSpc>
            </a:pPr>
            <a:r>
              <a:rPr lang="vi-VN" sz="2000" dirty="0">
                <a:latin typeface="Arial" panose="020B0604020202020204" pitchFamily="34" charset="0"/>
                <a:cs typeface="Arial" panose="020B0604020202020204" pitchFamily="34" charset="0"/>
              </a:rPr>
              <a:t>Định nghĩa: LSTM (Long Short-Term Memory) là một mạng nơ-ron hồi tiếp (Recurrent Neural Network – RNN) được thiết kế đặc biệt để:Học và ghi nhớ các phụ thuộc dài hạn trong dữ liệu chuỗi thời gian, khắc phục hiện tượng mất hoặc bùng nổ gradient của RNN truyền thống.</a:t>
            </a:r>
            <a:endParaRPr lang="en-VN" sz="2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E1CB8C7-7D5B-91A3-2B1A-DF90722F74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568" y="2903456"/>
            <a:ext cx="4835567" cy="2901340"/>
          </a:xfrm>
          <a:prstGeom prst="rect">
            <a:avLst/>
          </a:prstGeom>
        </p:spPr>
      </p:pic>
    </p:spTree>
    <p:extLst>
      <p:ext uri="{BB962C8B-B14F-4D97-AF65-F5344CB8AC3E}">
        <p14:creationId xmlns:p14="http://schemas.microsoft.com/office/powerpoint/2010/main" val="1178733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
          <a:extLst>
            <a:ext uri="{FF2B5EF4-FFF2-40B4-BE49-F238E27FC236}">
              <a16:creationId xmlns:a16="http://schemas.microsoft.com/office/drawing/2014/main" id="{72E0B643-0746-2C20-8ED1-B814FCA1CD77}"/>
            </a:ext>
          </a:extLst>
        </p:cNvPr>
        <p:cNvGrpSpPr/>
        <p:nvPr/>
      </p:nvGrpSpPr>
      <p:grpSpPr>
        <a:xfrm>
          <a:off x="0" y="0"/>
          <a:ext cx="0" cy="0"/>
          <a:chOff x="0" y="0"/>
          <a:chExt cx="0" cy="0"/>
        </a:xfrm>
      </p:grpSpPr>
      <p:sp>
        <p:nvSpPr>
          <p:cNvPr id="300" name="Google Shape;300;p6">
            <a:extLst>
              <a:ext uri="{FF2B5EF4-FFF2-40B4-BE49-F238E27FC236}">
                <a16:creationId xmlns:a16="http://schemas.microsoft.com/office/drawing/2014/main" id="{B3A2D348-FCA2-8B4C-1CEE-4B46FF4D98EC}"/>
              </a:ext>
            </a:extLst>
          </p:cNvPr>
          <p:cNvSpPr txBox="1">
            <a:spLocks noGrp="1"/>
          </p:cNvSpPr>
          <p:nvPr>
            <p:ph type="sldNum" idx="12"/>
          </p:nvPr>
        </p:nvSpPr>
        <p:spPr>
          <a:xfrm>
            <a:off x="8610600" y="6356350"/>
            <a:ext cx="2743200" cy="365125"/>
          </a:xfrm>
          <a:prstGeom prst="rect">
            <a:avLst/>
          </a:prstGeom>
        </p:spPr>
        <p:txBody>
          <a:bodyPr spcFirstLastPara="1" lIns="90000" tIns="45000" rIns="90000" bIns="45000" anchorCtr="0">
            <a:normAutofit/>
          </a:bodyPr>
          <a:lstStyle/>
          <a:p>
            <a:pPr marL="0" marR="0" lvl="0" indent="0" rtl="0">
              <a:lnSpc>
                <a:spcPct val="90000"/>
              </a:lnSpc>
              <a:spcBef>
                <a:spcPts val="0"/>
              </a:spcBef>
              <a:spcAft>
                <a:spcPts val="600"/>
              </a:spcAft>
              <a:buClr>
                <a:srgbClr val="B2B2B2"/>
              </a:buClr>
              <a:buSzPts val="1400"/>
              <a:buFont typeface="Arial"/>
              <a:buNone/>
            </a:pPr>
            <a:r>
              <a:rPr lang="en-US" dirty="0"/>
              <a:t>6/15</a:t>
            </a:r>
            <a:endParaRPr lang="en-US" b="0" i="0" u="none" strike="noStrike" cap="none" dirty="0">
              <a:latin typeface="Times New Roman"/>
              <a:ea typeface="Times New Roman"/>
              <a:cs typeface="Times New Roman"/>
              <a:sym typeface="Times New Roman"/>
            </a:endParaRPr>
          </a:p>
        </p:txBody>
      </p:sp>
      <p:sp>
        <p:nvSpPr>
          <p:cNvPr id="301" name="Google Shape;301;p6">
            <a:extLst>
              <a:ext uri="{FF2B5EF4-FFF2-40B4-BE49-F238E27FC236}">
                <a16:creationId xmlns:a16="http://schemas.microsoft.com/office/drawing/2014/main" id="{F6A05240-6293-C59D-3112-53B1CC9518B6}"/>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US" sz="3200" b="1" dirty="0" err="1">
                <a:latin typeface="Roboto" panose="02000000000000000000" pitchFamily="2" charset="0"/>
                <a:ea typeface="Roboto" panose="02000000000000000000" pitchFamily="2" charset="0"/>
                <a:cs typeface="Roboto" panose="02000000000000000000" pitchFamily="2" charset="0"/>
              </a:rPr>
              <a:t>Mô</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hình</a:t>
            </a:r>
            <a:r>
              <a:rPr lang="en-US" sz="3200" b="1" dirty="0">
                <a:latin typeface="Roboto" panose="02000000000000000000" pitchFamily="2" charset="0"/>
                <a:ea typeface="Roboto" panose="02000000000000000000" pitchFamily="2" charset="0"/>
                <a:cs typeface="Roboto" panose="02000000000000000000" pitchFamily="2" charset="0"/>
              </a:rPr>
              <a:t> Random Forest</a:t>
            </a:r>
          </a:p>
        </p:txBody>
      </p:sp>
      <p:pic>
        <p:nvPicPr>
          <p:cNvPr id="5" name="Picture 4" descr="Tập tin:Logo Trường Đại học Sư phạm Kỹ thuật Hưng Yên.svg – Wikipedia tiếng  Việt">
            <a:extLst>
              <a:ext uri="{FF2B5EF4-FFF2-40B4-BE49-F238E27FC236}">
                <a16:creationId xmlns:a16="http://schemas.microsoft.com/office/drawing/2014/main" id="{9144671B-9A8E-7191-40F0-5D671125F972}"/>
              </a:ext>
            </a:extLst>
          </p:cNvPr>
          <p:cNvPicPr>
            <a:picLocks noChangeAspect="1"/>
          </p:cNvPicPr>
          <p:nvPr/>
        </p:nvPicPr>
        <p:blipFill>
          <a:blip r:embed="rId3"/>
          <a:stretch>
            <a:fillRect/>
          </a:stretch>
        </p:blipFill>
        <p:spPr>
          <a:xfrm>
            <a:off x="-2966" y="1844"/>
            <a:ext cx="854195" cy="867302"/>
          </a:xfrm>
          <a:prstGeom prst="rect">
            <a:avLst/>
          </a:prstGeom>
        </p:spPr>
      </p:pic>
      <p:sp>
        <p:nvSpPr>
          <p:cNvPr id="3" name="Google Shape;262;p2">
            <a:extLst>
              <a:ext uri="{FF2B5EF4-FFF2-40B4-BE49-F238E27FC236}">
                <a16:creationId xmlns:a16="http://schemas.microsoft.com/office/drawing/2014/main" id="{E6A82AD3-1B56-16DD-F768-E4B19A219BF4}"/>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21560219-D54D-A03F-9FBB-20C894B99324}"/>
              </a:ext>
            </a:extLst>
          </p:cNvPr>
          <p:cNvSpPr txBox="1"/>
          <p:nvPr/>
        </p:nvSpPr>
        <p:spPr>
          <a:xfrm>
            <a:off x="767408" y="1268760"/>
            <a:ext cx="10729192" cy="958660"/>
          </a:xfrm>
          <a:prstGeom prst="rect">
            <a:avLst/>
          </a:prstGeom>
          <a:noFill/>
        </p:spPr>
        <p:txBody>
          <a:bodyPr wrap="square" rtlCol="0">
            <a:spAutoFit/>
          </a:bodyPr>
          <a:lstStyle/>
          <a:p>
            <a:pPr>
              <a:lnSpc>
                <a:spcPct val="150000"/>
              </a:lnSpc>
            </a:pPr>
            <a:r>
              <a:rPr lang="vi-VN" sz="2000" dirty="0">
                <a:latin typeface="Arial" panose="020B0604020202020204" pitchFamily="34" charset="0"/>
                <a:cs typeface="Arial" panose="020B0604020202020204" pitchFamily="34" charset="0"/>
              </a:rPr>
              <a:t>Định nghĩa: Random Forest là một thuật 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máy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cây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tốt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giúp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endParaRPr lang="en-US" sz="2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CFCC6A2-1488-0E3F-622B-33EB3CAC3A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7208" y="2607393"/>
            <a:ext cx="4719392" cy="3368920"/>
          </a:xfrm>
          <a:prstGeom prst="rect">
            <a:avLst/>
          </a:prstGeom>
        </p:spPr>
      </p:pic>
    </p:spTree>
    <p:extLst>
      <p:ext uri="{BB962C8B-B14F-4D97-AF65-F5344CB8AC3E}">
        <p14:creationId xmlns:p14="http://schemas.microsoft.com/office/powerpoint/2010/main" val="4489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a:extLst>
            <a:ext uri="{FF2B5EF4-FFF2-40B4-BE49-F238E27FC236}">
              <a16:creationId xmlns:a16="http://schemas.microsoft.com/office/drawing/2014/main" id="{B23C6B03-002B-E276-A616-FAD4212BC5DF}"/>
            </a:ext>
          </a:extLst>
        </p:cNvPr>
        <p:cNvGrpSpPr/>
        <p:nvPr/>
      </p:nvGrpSpPr>
      <p:grpSpPr>
        <a:xfrm>
          <a:off x="0" y="0"/>
          <a:ext cx="0" cy="0"/>
          <a:chOff x="0" y="0"/>
          <a:chExt cx="0" cy="0"/>
        </a:xfrm>
      </p:grpSpPr>
      <p:sp>
        <p:nvSpPr>
          <p:cNvPr id="300" name="Google Shape;300;p6">
            <a:extLst>
              <a:ext uri="{FF2B5EF4-FFF2-40B4-BE49-F238E27FC236}">
                <a16:creationId xmlns:a16="http://schemas.microsoft.com/office/drawing/2014/main" id="{397E97B1-2532-C7FB-E6AF-B4D3CC3440D9}"/>
              </a:ext>
            </a:extLst>
          </p:cNvPr>
          <p:cNvSpPr txBox="1">
            <a:spLocks noGrp="1"/>
          </p:cNvSpPr>
          <p:nvPr>
            <p:ph type="sldNum" idx="12"/>
          </p:nvPr>
        </p:nvSpPr>
        <p:spPr>
          <a:xfrm>
            <a:off x="8610600" y="6356350"/>
            <a:ext cx="2743200" cy="365125"/>
          </a:xfrm>
          <a:prstGeom prst="rect">
            <a:avLst/>
          </a:prstGeom>
        </p:spPr>
        <p:txBody>
          <a:bodyPr spcFirstLastPara="1" lIns="90000" tIns="45000" rIns="90000" bIns="45000" anchorCtr="0">
            <a:normAutofit/>
          </a:bodyPr>
          <a:lstStyle/>
          <a:p>
            <a:pPr marL="0" marR="0" lvl="0" indent="0" rtl="0">
              <a:lnSpc>
                <a:spcPct val="90000"/>
              </a:lnSpc>
              <a:spcBef>
                <a:spcPts val="0"/>
              </a:spcBef>
              <a:spcAft>
                <a:spcPts val="600"/>
              </a:spcAft>
              <a:buClr>
                <a:srgbClr val="B2B2B2"/>
              </a:buClr>
              <a:buSzPts val="1400"/>
              <a:buFont typeface="Arial"/>
              <a:buNone/>
            </a:pPr>
            <a:r>
              <a:rPr lang="en-US" dirty="0"/>
              <a:t>7/15</a:t>
            </a:r>
            <a:endParaRPr lang="en-US" b="0" i="0" u="none" strike="noStrike" cap="none" dirty="0">
              <a:latin typeface="Times New Roman"/>
              <a:ea typeface="Times New Roman"/>
              <a:cs typeface="Times New Roman"/>
              <a:sym typeface="Times New Roman"/>
            </a:endParaRPr>
          </a:p>
        </p:txBody>
      </p:sp>
      <p:sp>
        <p:nvSpPr>
          <p:cNvPr id="301" name="Google Shape;301;p6">
            <a:extLst>
              <a:ext uri="{FF2B5EF4-FFF2-40B4-BE49-F238E27FC236}">
                <a16:creationId xmlns:a16="http://schemas.microsoft.com/office/drawing/2014/main" id="{74032951-38D1-8C40-33FC-85BEA95C9F60}"/>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buSzPts val="4000"/>
            </a:pPr>
            <a:r>
              <a:rPr lang="en-US" sz="3200" b="1" dirty="0" err="1">
                <a:latin typeface="Roboto" panose="02000000000000000000" pitchFamily="2" charset="0"/>
                <a:ea typeface="Roboto" panose="02000000000000000000" pitchFamily="2" charset="0"/>
                <a:cs typeface="Roboto" panose="02000000000000000000" pitchFamily="2" charset="0"/>
              </a:rPr>
              <a:t>Mô</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hình</a:t>
            </a:r>
            <a:r>
              <a:rPr lang="en-US" sz="3200" b="1" dirty="0">
                <a:latin typeface="Roboto" panose="02000000000000000000" pitchFamily="2" charset="0"/>
                <a:ea typeface="Roboto" panose="02000000000000000000" pitchFamily="2" charset="0"/>
                <a:cs typeface="Roboto" panose="02000000000000000000" pitchFamily="2" charset="0"/>
              </a:rPr>
              <a:t> Random Forest</a:t>
            </a:r>
            <a:endParaRPr lang="en-US" sz="3200" dirty="0">
              <a:latin typeface="Roboto" panose="02000000000000000000" pitchFamily="2" charset="0"/>
              <a:ea typeface="Roboto" panose="02000000000000000000" pitchFamily="2" charset="0"/>
              <a:cs typeface="Roboto" panose="02000000000000000000" pitchFamily="2" charset="0"/>
            </a:endParaRPr>
          </a:p>
        </p:txBody>
      </p:sp>
      <p:pic>
        <p:nvPicPr>
          <p:cNvPr id="5" name="Picture 4" descr="Tập tin:Logo Trường Đại học Sư phạm Kỹ thuật Hưng Yên.svg – Wikipedia tiếng  Việt">
            <a:extLst>
              <a:ext uri="{FF2B5EF4-FFF2-40B4-BE49-F238E27FC236}">
                <a16:creationId xmlns:a16="http://schemas.microsoft.com/office/drawing/2014/main" id="{8C1552CE-DEE8-3DB7-56AE-6ACA48758B23}"/>
              </a:ext>
            </a:extLst>
          </p:cNvPr>
          <p:cNvPicPr>
            <a:picLocks noChangeAspect="1"/>
          </p:cNvPicPr>
          <p:nvPr/>
        </p:nvPicPr>
        <p:blipFill>
          <a:blip r:embed="rId3"/>
          <a:stretch>
            <a:fillRect/>
          </a:stretch>
        </p:blipFill>
        <p:spPr>
          <a:xfrm>
            <a:off x="-2966" y="1844"/>
            <a:ext cx="854195" cy="867302"/>
          </a:xfrm>
          <a:prstGeom prst="rect">
            <a:avLst/>
          </a:prstGeom>
        </p:spPr>
      </p:pic>
      <p:sp>
        <p:nvSpPr>
          <p:cNvPr id="2" name="Google Shape;262;p2">
            <a:extLst>
              <a:ext uri="{FF2B5EF4-FFF2-40B4-BE49-F238E27FC236}">
                <a16:creationId xmlns:a16="http://schemas.microsoft.com/office/drawing/2014/main" id="{74350A3B-1D91-A3B5-0378-A98FDED74D09}"/>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1DFA6C17-6FFC-1B60-576B-DEECA94DBC70}"/>
              </a:ext>
            </a:extLst>
          </p:cNvPr>
          <p:cNvPicPr>
            <a:picLocks noChangeAspect="1"/>
          </p:cNvPicPr>
          <p:nvPr/>
        </p:nvPicPr>
        <p:blipFill>
          <a:blip r:embed="rId4"/>
          <a:stretch>
            <a:fillRect/>
          </a:stretch>
        </p:blipFill>
        <p:spPr>
          <a:xfrm>
            <a:off x="1919536" y="1268760"/>
            <a:ext cx="8552272" cy="4968552"/>
          </a:xfrm>
          <a:prstGeom prst="rect">
            <a:avLst/>
          </a:prstGeom>
        </p:spPr>
      </p:pic>
    </p:spTree>
    <p:extLst>
      <p:ext uri="{BB962C8B-B14F-4D97-AF65-F5344CB8AC3E}">
        <p14:creationId xmlns:p14="http://schemas.microsoft.com/office/powerpoint/2010/main" val="3689870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a:extLst>
            <a:ext uri="{FF2B5EF4-FFF2-40B4-BE49-F238E27FC236}">
              <a16:creationId xmlns:a16="http://schemas.microsoft.com/office/drawing/2014/main" id="{372ABA94-1305-5EA5-6A4F-3EADF56071F4}"/>
            </a:ext>
          </a:extLst>
        </p:cNvPr>
        <p:cNvGrpSpPr/>
        <p:nvPr/>
      </p:nvGrpSpPr>
      <p:grpSpPr>
        <a:xfrm>
          <a:off x="0" y="0"/>
          <a:ext cx="0" cy="0"/>
          <a:chOff x="0" y="0"/>
          <a:chExt cx="0" cy="0"/>
        </a:xfrm>
      </p:grpSpPr>
      <p:sp>
        <p:nvSpPr>
          <p:cNvPr id="300" name="Google Shape;300;p6">
            <a:extLst>
              <a:ext uri="{FF2B5EF4-FFF2-40B4-BE49-F238E27FC236}">
                <a16:creationId xmlns:a16="http://schemas.microsoft.com/office/drawing/2014/main" id="{AC7DC266-2F07-6D4C-D4D7-F5125A707D83}"/>
              </a:ext>
            </a:extLst>
          </p:cNvPr>
          <p:cNvSpPr txBox="1">
            <a:spLocks noGrp="1"/>
          </p:cNvSpPr>
          <p:nvPr>
            <p:ph type="sldNum" idx="12"/>
          </p:nvPr>
        </p:nvSpPr>
        <p:spPr>
          <a:xfrm>
            <a:off x="8610600" y="6356350"/>
            <a:ext cx="2743200" cy="365125"/>
          </a:xfrm>
          <a:prstGeom prst="rect">
            <a:avLst/>
          </a:prstGeom>
        </p:spPr>
        <p:txBody>
          <a:bodyPr spcFirstLastPara="1" lIns="90000" tIns="45000" rIns="90000" bIns="45000" anchorCtr="0">
            <a:normAutofit/>
          </a:bodyPr>
          <a:lstStyle/>
          <a:p>
            <a:pPr marL="0" marR="0" lvl="0" indent="0" rtl="0">
              <a:lnSpc>
                <a:spcPct val="90000"/>
              </a:lnSpc>
              <a:spcBef>
                <a:spcPts val="0"/>
              </a:spcBef>
              <a:spcAft>
                <a:spcPts val="600"/>
              </a:spcAft>
              <a:buClr>
                <a:srgbClr val="B2B2B2"/>
              </a:buClr>
              <a:buSzPts val="1400"/>
              <a:buFont typeface="Arial"/>
              <a:buNone/>
            </a:pPr>
            <a:r>
              <a:rPr lang="en-US" dirty="0"/>
              <a:t>8/15</a:t>
            </a:r>
            <a:endParaRPr lang="en-US" b="0" i="0" u="none" strike="noStrike" cap="none" dirty="0">
              <a:latin typeface="Times New Roman"/>
              <a:ea typeface="Times New Roman"/>
              <a:cs typeface="Times New Roman"/>
              <a:sym typeface="Times New Roman"/>
            </a:endParaRPr>
          </a:p>
        </p:txBody>
      </p:sp>
      <p:sp>
        <p:nvSpPr>
          <p:cNvPr id="301" name="Google Shape;301;p6">
            <a:extLst>
              <a:ext uri="{FF2B5EF4-FFF2-40B4-BE49-F238E27FC236}">
                <a16:creationId xmlns:a16="http://schemas.microsoft.com/office/drawing/2014/main" id="{F8FC4BE0-287F-CFDE-A681-EF86C7FB716B}"/>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US" sz="3200" b="1" dirty="0">
                <a:latin typeface="Roboto" panose="02000000000000000000" pitchFamily="2" charset="0"/>
                <a:ea typeface="Roboto" panose="02000000000000000000" pitchFamily="2" charset="0"/>
                <a:cs typeface="Roboto" panose="02000000000000000000" pitchFamily="2" charset="0"/>
              </a:rPr>
              <a:t>Metrics </a:t>
            </a:r>
            <a:r>
              <a:rPr lang="en-US" sz="3200" b="1" dirty="0" err="1">
                <a:latin typeface="Roboto" panose="02000000000000000000" pitchFamily="2" charset="0"/>
                <a:ea typeface="Roboto" panose="02000000000000000000" pitchFamily="2" charset="0"/>
                <a:cs typeface="Roboto" panose="02000000000000000000" pitchFamily="2" charset="0"/>
              </a:rPr>
              <a:t>đánh</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giá</a:t>
            </a:r>
            <a:endParaRPr lang="en-US" sz="3200" b="1" dirty="0">
              <a:latin typeface="Roboto" panose="02000000000000000000" pitchFamily="2" charset="0"/>
              <a:ea typeface="Roboto" panose="02000000000000000000" pitchFamily="2" charset="0"/>
              <a:cs typeface="Roboto" panose="02000000000000000000" pitchFamily="2" charset="0"/>
            </a:endParaRPr>
          </a:p>
        </p:txBody>
      </p:sp>
      <p:pic>
        <p:nvPicPr>
          <p:cNvPr id="4" name="Picture 3" descr="Tập tin:Logo Trường Đại học Sư phạm Kỹ thuật Hưng Yên.svg – Wikipedia tiếng  Việt">
            <a:extLst>
              <a:ext uri="{FF2B5EF4-FFF2-40B4-BE49-F238E27FC236}">
                <a16:creationId xmlns:a16="http://schemas.microsoft.com/office/drawing/2014/main" id="{AA69394E-A1C9-5179-456C-24144C8DE981}"/>
              </a:ext>
            </a:extLst>
          </p:cNvPr>
          <p:cNvPicPr>
            <a:picLocks noChangeAspect="1"/>
          </p:cNvPicPr>
          <p:nvPr/>
        </p:nvPicPr>
        <p:blipFill>
          <a:blip r:embed="rId3"/>
          <a:stretch>
            <a:fillRect/>
          </a:stretch>
        </p:blipFill>
        <p:spPr>
          <a:xfrm>
            <a:off x="-2966" y="1844"/>
            <a:ext cx="854195" cy="867302"/>
          </a:xfrm>
          <a:prstGeom prst="rect">
            <a:avLst/>
          </a:prstGeom>
        </p:spPr>
      </p:pic>
      <p:sp>
        <p:nvSpPr>
          <p:cNvPr id="3" name="Google Shape;262;p2">
            <a:extLst>
              <a:ext uri="{FF2B5EF4-FFF2-40B4-BE49-F238E27FC236}">
                <a16:creationId xmlns:a16="http://schemas.microsoft.com/office/drawing/2014/main" id="{7C2DF10C-31E6-8378-76A8-E25A5345040E}"/>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2050" name="Picture 2">
            <a:extLst>
              <a:ext uri="{FF2B5EF4-FFF2-40B4-BE49-F238E27FC236}">
                <a16:creationId xmlns:a16="http://schemas.microsoft.com/office/drawing/2014/main" id="{593548F9-D366-7A7E-0CF4-1BA2DF4FED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217" y="919450"/>
            <a:ext cx="4374124" cy="151458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6408844-082E-17A4-59D3-6EA0410C72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3617" y="1056118"/>
            <a:ext cx="3912816" cy="110740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ED98153-CF1F-60FE-47CE-543A5A5C9DBF}"/>
              </a:ext>
            </a:extLst>
          </p:cNvPr>
          <p:cNvSpPr txBox="1"/>
          <p:nvPr/>
        </p:nvSpPr>
        <p:spPr>
          <a:xfrm>
            <a:off x="7773617" y="2350907"/>
            <a:ext cx="3793066" cy="1015663"/>
          </a:xfrm>
          <a:prstGeom prst="rect">
            <a:avLst/>
          </a:prstGeom>
          <a:noFill/>
        </p:spPr>
        <p:txBody>
          <a:bodyPr wrap="square" rtlCol="0">
            <a:spAutoFit/>
          </a:bodyPr>
          <a:lstStyle/>
          <a:p>
            <a:r>
              <a:rPr lang="en-US" sz="2000" dirty="0"/>
              <a:t>Căn </a:t>
            </a:r>
            <a:r>
              <a:rPr lang="en-US" sz="2000" dirty="0" err="1"/>
              <a:t>bậc</a:t>
            </a:r>
            <a:r>
              <a:rPr lang="en-US" sz="2000" dirty="0"/>
              <a:t> 2 </a:t>
            </a:r>
            <a:r>
              <a:rPr lang="en-US" sz="2000" dirty="0" err="1"/>
              <a:t>của</a:t>
            </a:r>
            <a:r>
              <a:rPr lang="en-US" sz="2000" dirty="0"/>
              <a:t> MSE, </a:t>
            </a:r>
            <a:r>
              <a:rPr lang="en-US" sz="2000" dirty="0" err="1"/>
              <a:t>đo</a:t>
            </a:r>
            <a:r>
              <a:rPr lang="en-US" sz="2000" dirty="0"/>
              <a:t> </a:t>
            </a:r>
            <a:r>
              <a:rPr lang="en-US" sz="2000" dirty="0" err="1"/>
              <a:t>độ</a:t>
            </a:r>
            <a:r>
              <a:rPr lang="en-US" sz="2000" dirty="0"/>
              <a:t> </a:t>
            </a:r>
            <a:r>
              <a:rPr lang="en-US" sz="2000" dirty="0" err="1"/>
              <a:t>lệch</a:t>
            </a:r>
            <a:r>
              <a:rPr lang="en-US" sz="2000" dirty="0"/>
              <a:t> </a:t>
            </a:r>
            <a:r>
              <a:rPr lang="en-US" sz="2000" dirty="0" err="1"/>
              <a:t>trung</a:t>
            </a:r>
            <a:r>
              <a:rPr lang="en-US" sz="2000" dirty="0"/>
              <a:t> </a:t>
            </a:r>
            <a:r>
              <a:rPr lang="en-US" sz="2000" dirty="0" err="1"/>
              <a:t>bình</a:t>
            </a:r>
            <a:r>
              <a:rPr lang="en-US" sz="2000" dirty="0"/>
              <a:t> </a:t>
            </a:r>
            <a:r>
              <a:rPr lang="en-US" sz="2000" dirty="0" err="1"/>
              <a:t>giữa</a:t>
            </a:r>
            <a:r>
              <a:rPr lang="en-US" sz="2000" dirty="0"/>
              <a:t> </a:t>
            </a:r>
            <a:r>
              <a:rPr lang="en-US" sz="2000" dirty="0" err="1"/>
              <a:t>giá</a:t>
            </a:r>
            <a:r>
              <a:rPr lang="en-US" sz="2000" dirty="0"/>
              <a:t> </a:t>
            </a:r>
            <a:r>
              <a:rPr lang="en-US" sz="2000" dirty="0" err="1"/>
              <a:t>trị</a:t>
            </a:r>
            <a:r>
              <a:rPr lang="en-US" sz="2000" dirty="0"/>
              <a:t> </a:t>
            </a:r>
            <a:r>
              <a:rPr lang="en-US" sz="2000" dirty="0" err="1"/>
              <a:t>dự</a:t>
            </a:r>
            <a:r>
              <a:rPr lang="en-US" sz="2000" dirty="0"/>
              <a:t> </a:t>
            </a:r>
            <a:r>
              <a:rPr lang="en-US" sz="2000" dirty="0" err="1"/>
              <a:t>đoán</a:t>
            </a:r>
            <a:r>
              <a:rPr lang="en-US" sz="2000" dirty="0"/>
              <a:t> </a:t>
            </a:r>
            <a:r>
              <a:rPr lang="en-US" sz="2000" dirty="0" err="1"/>
              <a:t>và</a:t>
            </a:r>
            <a:r>
              <a:rPr lang="en-US" sz="2000" dirty="0"/>
              <a:t> </a:t>
            </a:r>
            <a:r>
              <a:rPr lang="en-US" sz="2000" dirty="0" err="1"/>
              <a:t>thực</a:t>
            </a:r>
            <a:r>
              <a:rPr lang="en-US" sz="2000" dirty="0"/>
              <a:t> </a:t>
            </a:r>
            <a:r>
              <a:rPr lang="en-US" sz="2000" dirty="0" err="1"/>
              <a:t>tế</a:t>
            </a:r>
            <a:endParaRPr lang="en-US" sz="2000" dirty="0"/>
          </a:p>
        </p:txBody>
      </p:sp>
      <p:sp>
        <p:nvSpPr>
          <p:cNvPr id="5" name="TextBox 4">
            <a:extLst>
              <a:ext uri="{FF2B5EF4-FFF2-40B4-BE49-F238E27FC236}">
                <a16:creationId xmlns:a16="http://schemas.microsoft.com/office/drawing/2014/main" id="{E51EE2A0-5FAC-1970-CCFC-482BD419088A}"/>
              </a:ext>
            </a:extLst>
          </p:cNvPr>
          <p:cNvSpPr txBox="1"/>
          <p:nvPr/>
        </p:nvSpPr>
        <p:spPr>
          <a:xfrm>
            <a:off x="424131" y="2434036"/>
            <a:ext cx="3793066" cy="923330"/>
          </a:xfrm>
          <a:prstGeom prst="rect">
            <a:avLst/>
          </a:prstGeom>
          <a:noFill/>
        </p:spPr>
        <p:txBody>
          <a:bodyPr wrap="square" rtlCol="0">
            <a:spAutoFit/>
          </a:bodyPr>
          <a:lstStyle/>
          <a:p>
            <a:r>
              <a:rPr lang="vi-VN" dirty="0"/>
              <a:t>Chỉ số này giúp đo lường sự khác biệt tuyệt đối giữa các giá trị thực tế và giá trị dự đoán</a:t>
            </a:r>
            <a:endParaRPr lang="en-US" sz="2000" dirty="0"/>
          </a:p>
        </p:txBody>
      </p:sp>
      <p:pic>
        <p:nvPicPr>
          <p:cNvPr id="1026" name="Picture 2">
            <a:extLst>
              <a:ext uri="{FF2B5EF4-FFF2-40B4-BE49-F238E27FC236}">
                <a16:creationId xmlns:a16="http://schemas.microsoft.com/office/drawing/2014/main" id="{D4967126-80AA-7FBB-2016-653DFC32BD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130" y="3855234"/>
            <a:ext cx="3420165" cy="10892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FFC0D8E-F671-7CC1-9F3A-300BFED3E3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3617" y="3741346"/>
            <a:ext cx="3420165" cy="108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282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36DBE784-6173-B604-9917-B2E34465D800}"/>
            </a:ext>
          </a:extLst>
        </p:cNvPr>
        <p:cNvGrpSpPr/>
        <p:nvPr/>
      </p:nvGrpSpPr>
      <p:grpSpPr>
        <a:xfrm>
          <a:off x="0" y="0"/>
          <a:ext cx="0" cy="0"/>
          <a:chOff x="0" y="0"/>
          <a:chExt cx="0" cy="0"/>
        </a:xfrm>
      </p:grpSpPr>
      <p:sp>
        <p:nvSpPr>
          <p:cNvPr id="320" name="Google Shape;320;p8">
            <a:extLst>
              <a:ext uri="{FF2B5EF4-FFF2-40B4-BE49-F238E27FC236}">
                <a16:creationId xmlns:a16="http://schemas.microsoft.com/office/drawing/2014/main" id="{04068D84-E239-E071-29C5-DF70C6D306CE}"/>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sz="1400" b="0" i="0" u="none" strike="noStrike" cap="none" dirty="0">
                <a:solidFill>
                  <a:srgbClr val="B2B2B2"/>
                </a:solidFill>
                <a:latin typeface="Times New Roman"/>
                <a:ea typeface="Times New Roman"/>
                <a:cs typeface="Times New Roman"/>
                <a:sym typeface="Times New Roman"/>
              </a:rPr>
              <a:t>9/15</a:t>
            </a:r>
            <a:endParaRPr sz="1400" b="0" i="0" u="none" strike="noStrike" cap="none" dirty="0">
              <a:solidFill>
                <a:srgbClr val="B2B2B2"/>
              </a:solidFill>
              <a:latin typeface="Times New Roman"/>
              <a:ea typeface="Times New Roman"/>
              <a:cs typeface="Times New Roman"/>
              <a:sym typeface="Times New Roman"/>
            </a:endParaRPr>
          </a:p>
        </p:txBody>
      </p:sp>
      <p:sp>
        <p:nvSpPr>
          <p:cNvPr id="321" name="Google Shape;321;p8">
            <a:extLst>
              <a:ext uri="{FF2B5EF4-FFF2-40B4-BE49-F238E27FC236}">
                <a16:creationId xmlns:a16="http://schemas.microsoft.com/office/drawing/2014/main" id="{664768AD-22B1-3B84-9DFC-4957A3F33F2E}"/>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US" sz="3200" b="1" dirty="0" err="1">
                <a:latin typeface="Roboto" panose="02000000000000000000" pitchFamily="2" charset="0"/>
                <a:ea typeface="Roboto" panose="02000000000000000000" pitchFamily="2" charset="0"/>
                <a:cs typeface="Roboto" panose="02000000000000000000" pitchFamily="2" charset="0"/>
              </a:rPr>
              <a:t>Mô</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tả</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dữ</a:t>
            </a:r>
            <a:r>
              <a:rPr lang="en-US" sz="3200" b="1" dirty="0">
                <a:latin typeface="Roboto" panose="02000000000000000000" pitchFamily="2" charset="0"/>
                <a:ea typeface="Roboto" panose="02000000000000000000" pitchFamily="2" charset="0"/>
                <a:cs typeface="Roboto" panose="02000000000000000000" pitchFamily="2" charset="0"/>
              </a:rPr>
              <a:t> </a:t>
            </a:r>
            <a:r>
              <a:rPr lang="en-US" sz="3200" b="1" dirty="0" err="1">
                <a:latin typeface="Roboto" panose="02000000000000000000" pitchFamily="2" charset="0"/>
                <a:ea typeface="Roboto" panose="02000000000000000000" pitchFamily="2" charset="0"/>
                <a:cs typeface="Roboto" panose="02000000000000000000" pitchFamily="2" charset="0"/>
              </a:rPr>
              <a:t>liệu</a:t>
            </a:r>
            <a:endParaRPr sz="32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5" name="Picture 4" descr="Tập tin:Logo Trường Đại học Sư phạm Kỹ thuật Hưng Yên.svg – Wikipedia tiếng  Việt">
            <a:extLst>
              <a:ext uri="{FF2B5EF4-FFF2-40B4-BE49-F238E27FC236}">
                <a16:creationId xmlns:a16="http://schemas.microsoft.com/office/drawing/2014/main" id="{E6DD0A6C-754C-6D1E-6EFF-5C114EA0F188}"/>
              </a:ext>
            </a:extLst>
          </p:cNvPr>
          <p:cNvPicPr>
            <a:picLocks noChangeAspect="1"/>
          </p:cNvPicPr>
          <p:nvPr/>
        </p:nvPicPr>
        <p:blipFill>
          <a:blip r:embed="rId3"/>
          <a:stretch>
            <a:fillRect/>
          </a:stretch>
        </p:blipFill>
        <p:spPr>
          <a:xfrm>
            <a:off x="-2966" y="1844"/>
            <a:ext cx="854195" cy="867302"/>
          </a:xfrm>
          <a:prstGeom prst="rect">
            <a:avLst/>
          </a:prstGeom>
        </p:spPr>
      </p:pic>
      <p:sp>
        <p:nvSpPr>
          <p:cNvPr id="4" name="Google Shape;262;p2">
            <a:extLst>
              <a:ext uri="{FF2B5EF4-FFF2-40B4-BE49-F238E27FC236}">
                <a16:creationId xmlns:a16="http://schemas.microsoft.com/office/drawing/2014/main" id="{FC2A6A11-B087-43B8-7FE2-6829BD4E7DCD}"/>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760D2233-D146-D188-0299-386DE169F208}"/>
              </a:ext>
            </a:extLst>
          </p:cNvPr>
          <p:cNvPicPr>
            <a:picLocks noChangeAspect="1"/>
          </p:cNvPicPr>
          <p:nvPr/>
        </p:nvPicPr>
        <p:blipFill>
          <a:blip r:embed="rId4"/>
          <a:stretch>
            <a:fillRect/>
          </a:stretch>
        </p:blipFill>
        <p:spPr>
          <a:xfrm>
            <a:off x="267967" y="1143000"/>
            <a:ext cx="11839766" cy="4064000"/>
          </a:xfrm>
          <a:prstGeom prst="rect">
            <a:avLst/>
          </a:prstGeom>
        </p:spPr>
      </p:pic>
    </p:spTree>
    <p:extLst>
      <p:ext uri="{BB962C8B-B14F-4D97-AF65-F5344CB8AC3E}">
        <p14:creationId xmlns:p14="http://schemas.microsoft.com/office/powerpoint/2010/main" val="777970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9" name="Google Shape;339;p10"/>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10/15</a:t>
            </a:r>
            <a:endParaRPr sz="1400" b="0" i="0" u="none" strike="noStrike" cap="none" dirty="0">
              <a:solidFill>
                <a:srgbClr val="B2B2B2"/>
              </a:solidFill>
              <a:latin typeface="Times New Roman"/>
              <a:ea typeface="Times New Roman"/>
              <a:cs typeface="Times New Roman"/>
              <a:sym typeface="Times New Roman"/>
            </a:endParaRPr>
          </a:p>
        </p:txBody>
      </p:sp>
      <p:sp>
        <p:nvSpPr>
          <p:cNvPr id="340" name="Google Shape;340;p10"/>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VN" sz="3200" b="1" i="0" u="none" strike="noStrike" cap="none" dirty="0">
                <a:latin typeface="Roboto" panose="02000000000000000000" pitchFamily="2" charset="0"/>
                <a:ea typeface="Roboto" panose="02000000000000000000" pitchFamily="2" charset="0"/>
                <a:cs typeface="Roboto" panose="02000000000000000000" pitchFamily="2" charset="0"/>
                <a:sym typeface="Arial"/>
              </a:rPr>
              <a:t>Phân tích dữ liệu</a:t>
            </a:r>
            <a:endParaRPr sz="32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B8AEFF98-0D2F-E2B5-2711-586F9C1E39B5}"/>
              </a:ext>
            </a:extLst>
          </p:cNvPr>
          <p:cNvPicPr>
            <a:picLocks noChangeAspect="1"/>
          </p:cNvPicPr>
          <p:nvPr/>
        </p:nvPicPr>
        <p:blipFill>
          <a:blip r:embed="rId3"/>
          <a:stretch>
            <a:fillRect/>
          </a:stretch>
        </p:blipFill>
        <p:spPr>
          <a:xfrm>
            <a:off x="-2966" y="1844"/>
            <a:ext cx="854195" cy="867302"/>
          </a:xfrm>
          <a:prstGeom prst="rect">
            <a:avLst/>
          </a:prstGeom>
        </p:spPr>
      </p:pic>
      <p:sp>
        <p:nvSpPr>
          <p:cNvPr id="2" name="Google Shape;262;p2">
            <a:extLst>
              <a:ext uri="{FF2B5EF4-FFF2-40B4-BE49-F238E27FC236}">
                <a16:creationId xmlns:a16="http://schemas.microsoft.com/office/drawing/2014/main" id="{D0C12664-8B2B-E482-260D-56BF189A9206}"/>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8E9EBA6A-7216-B62C-C7FC-AC651CE4FCCC}"/>
              </a:ext>
            </a:extLst>
          </p:cNvPr>
          <p:cNvPicPr>
            <a:picLocks noChangeAspect="1"/>
          </p:cNvPicPr>
          <p:nvPr/>
        </p:nvPicPr>
        <p:blipFill>
          <a:blip r:embed="rId4"/>
          <a:stretch>
            <a:fillRect/>
          </a:stretch>
        </p:blipFill>
        <p:spPr>
          <a:xfrm>
            <a:off x="1179030" y="1502917"/>
            <a:ext cx="9437834" cy="37464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1EEEA961-66C8-236B-76AC-A1C45095F893}"/>
            </a:ext>
          </a:extLst>
        </p:cNvPr>
        <p:cNvGrpSpPr/>
        <p:nvPr/>
      </p:nvGrpSpPr>
      <p:grpSpPr>
        <a:xfrm>
          <a:off x="0" y="0"/>
          <a:ext cx="0" cy="0"/>
          <a:chOff x="0" y="0"/>
          <a:chExt cx="0" cy="0"/>
        </a:xfrm>
      </p:grpSpPr>
      <p:sp>
        <p:nvSpPr>
          <p:cNvPr id="339" name="Google Shape;339;p10">
            <a:extLst>
              <a:ext uri="{FF2B5EF4-FFF2-40B4-BE49-F238E27FC236}">
                <a16:creationId xmlns:a16="http://schemas.microsoft.com/office/drawing/2014/main" id="{D7E1AE59-8E57-659D-F668-36A54B3CC2E8}"/>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11/15</a:t>
            </a:r>
            <a:endParaRPr sz="1400" b="0" i="0" u="none" strike="noStrike" cap="none" dirty="0">
              <a:solidFill>
                <a:srgbClr val="B2B2B2"/>
              </a:solidFill>
              <a:latin typeface="Times New Roman"/>
              <a:ea typeface="Times New Roman"/>
              <a:cs typeface="Times New Roman"/>
              <a:sym typeface="Times New Roman"/>
            </a:endParaRPr>
          </a:p>
        </p:txBody>
      </p:sp>
      <p:sp>
        <p:nvSpPr>
          <p:cNvPr id="340" name="Google Shape;340;p10">
            <a:extLst>
              <a:ext uri="{FF2B5EF4-FFF2-40B4-BE49-F238E27FC236}">
                <a16:creationId xmlns:a16="http://schemas.microsoft.com/office/drawing/2014/main" id="{5230300D-EB14-6A3C-0EC3-F8450C0FFCBE}"/>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a:lnSpc>
                <a:spcPct val="90000"/>
              </a:lnSpc>
              <a:buSzPts val="4000"/>
            </a:pPr>
            <a:r>
              <a:rPr lang="en-VN" sz="3200" b="1" i="0" u="none" strike="noStrike" cap="none" dirty="0">
                <a:latin typeface="Roboto" panose="02000000000000000000" pitchFamily="2" charset="0"/>
                <a:ea typeface="Roboto" panose="02000000000000000000" pitchFamily="2" charset="0"/>
                <a:cs typeface="Roboto" panose="02000000000000000000" pitchFamily="2" charset="0"/>
                <a:sym typeface="Arial"/>
              </a:rPr>
              <a:t>Phân tích dữ liệu</a:t>
            </a:r>
            <a:endParaRPr sz="32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27349069-D733-E720-01A3-7EDC041579A0}"/>
              </a:ext>
            </a:extLst>
          </p:cNvPr>
          <p:cNvPicPr>
            <a:picLocks noChangeAspect="1"/>
          </p:cNvPicPr>
          <p:nvPr/>
        </p:nvPicPr>
        <p:blipFill>
          <a:blip r:embed="rId3"/>
          <a:stretch>
            <a:fillRect/>
          </a:stretch>
        </p:blipFill>
        <p:spPr>
          <a:xfrm>
            <a:off x="-2966" y="1844"/>
            <a:ext cx="854195" cy="867302"/>
          </a:xfrm>
          <a:prstGeom prst="rect">
            <a:avLst/>
          </a:prstGeom>
        </p:spPr>
      </p:pic>
      <p:sp>
        <p:nvSpPr>
          <p:cNvPr id="2" name="Google Shape;262;p2">
            <a:extLst>
              <a:ext uri="{FF2B5EF4-FFF2-40B4-BE49-F238E27FC236}">
                <a16:creationId xmlns:a16="http://schemas.microsoft.com/office/drawing/2014/main" id="{65C76734-CD16-6ED6-B5C6-06FEC9C2CA81}"/>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0C59CF7B-9BB2-9469-806E-FAF37FA8DF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1481" y="1006350"/>
            <a:ext cx="7151800" cy="5363850"/>
          </a:xfrm>
          <a:prstGeom prst="rect">
            <a:avLst/>
          </a:prstGeom>
        </p:spPr>
      </p:pic>
    </p:spTree>
    <p:extLst>
      <p:ext uri="{BB962C8B-B14F-4D97-AF65-F5344CB8AC3E}">
        <p14:creationId xmlns:p14="http://schemas.microsoft.com/office/powerpoint/2010/main" val="576289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6880D354-D470-C872-1BE3-D7240DC89DBF}"/>
            </a:ext>
          </a:extLst>
        </p:cNvPr>
        <p:cNvGrpSpPr/>
        <p:nvPr/>
      </p:nvGrpSpPr>
      <p:grpSpPr>
        <a:xfrm>
          <a:off x="0" y="0"/>
          <a:ext cx="0" cy="0"/>
          <a:chOff x="0" y="0"/>
          <a:chExt cx="0" cy="0"/>
        </a:xfrm>
      </p:grpSpPr>
      <p:sp>
        <p:nvSpPr>
          <p:cNvPr id="339" name="Google Shape;339;p10">
            <a:extLst>
              <a:ext uri="{FF2B5EF4-FFF2-40B4-BE49-F238E27FC236}">
                <a16:creationId xmlns:a16="http://schemas.microsoft.com/office/drawing/2014/main" id="{1D0E616C-3C00-3421-CBB1-96C435484593}"/>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12/15</a:t>
            </a:r>
            <a:endParaRPr sz="1400" b="0" i="0" u="none" strike="noStrike" cap="none" dirty="0">
              <a:solidFill>
                <a:srgbClr val="B2B2B2"/>
              </a:solidFill>
              <a:latin typeface="Times New Roman"/>
              <a:ea typeface="Times New Roman"/>
              <a:cs typeface="Times New Roman"/>
              <a:sym typeface="Times New Roman"/>
            </a:endParaRPr>
          </a:p>
        </p:txBody>
      </p:sp>
      <p:sp>
        <p:nvSpPr>
          <p:cNvPr id="340" name="Google Shape;340;p10">
            <a:extLst>
              <a:ext uri="{FF2B5EF4-FFF2-40B4-BE49-F238E27FC236}">
                <a16:creationId xmlns:a16="http://schemas.microsoft.com/office/drawing/2014/main" id="{D902DC7C-D7E5-39A6-DFF0-E11CBB9AD2B3}"/>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lvl="0">
              <a:spcBef>
                <a:spcPts val="0"/>
              </a:spcBef>
              <a:buClr>
                <a:srgbClr val="000000"/>
              </a:buClr>
              <a:buSzPts val="4000"/>
            </a:pPr>
            <a:r>
              <a:rPr lang="en-US" sz="3200" b="1" dirty="0">
                <a:latin typeface="Roboto" panose="02000000000000000000" pitchFamily="2" charset="0"/>
                <a:ea typeface="Roboto" panose="02000000000000000000" pitchFamily="2" charset="0"/>
                <a:cs typeface="Roboto" panose="02000000000000000000" pitchFamily="2" charset="0"/>
                <a:sym typeface="Arial"/>
              </a:rPr>
              <a:t>Cài </a:t>
            </a:r>
            <a:r>
              <a:rPr lang="en-US" sz="3200" b="1" dirty="0" err="1">
                <a:latin typeface="Roboto" panose="02000000000000000000" pitchFamily="2" charset="0"/>
                <a:ea typeface="Roboto" panose="02000000000000000000" pitchFamily="2" charset="0"/>
                <a:cs typeface="Roboto" panose="02000000000000000000" pitchFamily="2" charset="0"/>
                <a:sym typeface="Arial"/>
              </a:rPr>
              <a:t>đặt</a:t>
            </a:r>
            <a:r>
              <a:rPr lang="en-US" sz="3200" b="1" dirty="0">
                <a:latin typeface="Roboto" panose="02000000000000000000" pitchFamily="2" charset="0"/>
                <a:ea typeface="Roboto" panose="02000000000000000000" pitchFamily="2" charset="0"/>
                <a:cs typeface="Roboto" panose="02000000000000000000" pitchFamily="2" charset="0"/>
                <a:sym typeface="Arial"/>
              </a:rPr>
              <a:t> </a:t>
            </a:r>
            <a:r>
              <a:rPr lang="en-US" sz="3200" b="1" dirty="0" err="1">
                <a:latin typeface="Roboto" panose="02000000000000000000" pitchFamily="2" charset="0"/>
                <a:ea typeface="Roboto" panose="02000000000000000000" pitchFamily="2" charset="0"/>
                <a:cs typeface="Roboto" panose="02000000000000000000" pitchFamily="2" charset="0"/>
                <a:sym typeface="Arial"/>
              </a:rPr>
              <a:t>mô</a:t>
            </a:r>
            <a:r>
              <a:rPr lang="en-US" sz="3200" b="1" dirty="0">
                <a:latin typeface="Roboto" panose="02000000000000000000" pitchFamily="2" charset="0"/>
                <a:ea typeface="Roboto" panose="02000000000000000000" pitchFamily="2" charset="0"/>
                <a:cs typeface="Roboto" panose="02000000000000000000" pitchFamily="2" charset="0"/>
                <a:sym typeface="Arial"/>
              </a:rPr>
              <a:t> </a:t>
            </a:r>
            <a:r>
              <a:rPr lang="en-US" sz="3200" b="1" dirty="0" err="1">
                <a:latin typeface="Roboto" panose="02000000000000000000" pitchFamily="2" charset="0"/>
                <a:ea typeface="Roboto" panose="02000000000000000000" pitchFamily="2" charset="0"/>
                <a:cs typeface="Roboto" panose="02000000000000000000" pitchFamily="2" charset="0"/>
                <a:sym typeface="Arial"/>
              </a:rPr>
              <a:t>hình</a:t>
            </a:r>
            <a:endParaRPr sz="32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C2B29D52-40AB-707E-3E23-8144134E5162}"/>
              </a:ext>
            </a:extLst>
          </p:cNvPr>
          <p:cNvPicPr>
            <a:picLocks noChangeAspect="1"/>
          </p:cNvPicPr>
          <p:nvPr/>
        </p:nvPicPr>
        <p:blipFill>
          <a:blip r:embed="rId3"/>
          <a:stretch>
            <a:fillRect/>
          </a:stretch>
        </p:blipFill>
        <p:spPr>
          <a:xfrm>
            <a:off x="-2966" y="1844"/>
            <a:ext cx="854195" cy="867302"/>
          </a:xfrm>
          <a:prstGeom prst="rect">
            <a:avLst/>
          </a:prstGeom>
        </p:spPr>
      </p:pic>
      <p:sp>
        <p:nvSpPr>
          <p:cNvPr id="4" name="Google Shape;262;p2">
            <a:extLst>
              <a:ext uri="{FF2B5EF4-FFF2-40B4-BE49-F238E27FC236}">
                <a16:creationId xmlns:a16="http://schemas.microsoft.com/office/drawing/2014/main" id="{838CAEFC-338A-80E5-BAD9-B262B4B3BB29}"/>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400AB2CD-3F3A-AF88-4F3E-8111E99F74B2}"/>
              </a:ext>
            </a:extLst>
          </p:cNvPr>
          <p:cNvSpPr txBox="1"/>
          <p:nvPr/>
        </p:nvSpPr>
        <p:spPr>
          <a:xfrm>
            <a:off x="424131" y="1048990"/>
            <a:ext cx="3942782"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solidFill>
                  <a:srgbClr val="595959"/>
                </a:solidFill>
                <a:latin typeface="ArialMT"/>
                <a:ea typeface="ArialMT"/>
                <a:cs typeface="ArialMT"/>
              </a:rPr>
              <a:t>●</a:t>
            </a:r>
            <a:r>
              <a:rPr lang="en-US" sz="1300" dirty="0">
                <a:solidFill>
                  <a:srgbClr val="595959"/>
                </a:solidFill>
                <a:latin typeface="Arial"/>
                <a:ea typeface="Arial"/>
                <a:cs typeface="Arial"/>
              </a:rPr>
              <a:t> </a:t>
            </a:r>
            <a:r>
              <a:rPr lang="vi-VN" sz="1300" dirty="0">
                <a:solidFill>
                  <a:srgbClr val="595959"/>
                </a:solidFill>
                <a:latin typeface="Arial"/>
                <a:ea typeface="Arial"/>
                <a:cs typeface="Arial"/>
              </a:rPr>
              <a:t>Mô hình L</a:t>
            </a:r>
            <a:r>
              <a:rPr lang="en-US" sz="1300" dirty="0" err="1">
                <a:solidFill>
                  <a:srgbClr val="595959"/>
                </a:solidFill>
                <a:latin typeface="Arial"/>
                <a:ea typeface="Arial"/>
                <a:cs typeface="Arial"/>
              </a:rPr>
              <a:t>inear</a:t>
            </a:r>
            <a:r>
              <a:rPr lang="vi-VN" sz="1300" dirty="0">
                <a:solidFill>
                  <a:srgbClr val="595959"/>
                </a:solidFill>
                <a:latin typeface="Arial"/>
                <a:ea typeface="Arial"/>
                <a:cs typeface="Arial"/>
              </a:rPr>
              <a:t> Regression</a:t>
            </a:r>
            <a:endParaRPr lang="en-US" sz="1300" dirty="0"/>
          </a:p>
        </p:txBody>
      </p:sp>
      <p:pic>
        <p:nvPicPr>
          <p:cNvPr id="9" name="Picture 8">
            <a:extLst>
              <a:ext uri="{FF2B5EF4-FFF2-40B4-BE49-F238E27FC236}">
                <a16:creationId xmlns:a16="http://schemas.microsoft.com/office/drawing/2014/main" id="{B20EABB5-2131-5E57-1626-FD41A990D440}"/>
              </a:ext>
            </a:extLst>
          </p:cNvPr>
          <p:cNvPicPr>
            <a:picLocks noChangeAspect="1"/>
          </p:cNvPicPr>
          <p:nvPr/>
        </p:nvPicPr>
        <p:blipFill>
          <a:blip r:embed="rId4"/>
          <a:stretch>
            <a:fillRect/>
          </a:stretch>
        </p:blipFill>
        <p:spPr>
          <a:xfrm>
            <a:off x="424131" y="1534288"/>
            <a:ext cx="4077269" cy="1724266"/>
          </a:xfrm>
          <a:prstGeom prst="rect">
            <a:avLst/>
          </a:prstGeom>
        </p:spPr>
      </p:pic>
      <p:sp>
        <p:nvSpPr>
          <p:cNvPr id="11" name="TextBox 10">
            <a:extLst>
              <a:ext uri="{FF2B5EF4-FFF2-40B4-BE49-F238E27FC236}">
                <a16:creationId xmlns:a16="http://schemas.microsoft.com/office/drawing/2014/main" id="{B4168D82-69BE-47D3-F783-5E8FCAFF39F0}"/>
              </a:ext>
            </a:extLst>
          </p:cNvPr>
          <p:cNvSpPr txBox="1"/>
          <p:nvPr/>
        </p:nvSpPr>
        <p:spPr>
          <a:xfrm>
            <a:off x="7825089" y="1195184"/>
            <a:ext cx="2345267" cy="292388"/>
          </a:xfrm>
          <a:prstGeom prst="rect">
            <a:avLst/>
          </a:prstGeom>
          <a:noFill/>
        </p:spPr>
        <p:txBody>
          <a:bodyPr wrap="square" rtlCol="0">
            <a:spAutoFit/>
          </a:bodyPr>
          <a:lstStyle/>
          <a:p>
            <a:r>
              <a:rPr lang="en-US" sz="1300" dirty="0">
                <a:solidFill>
                  <a:srgbClr val="595959"/>
                </a:solidFill>
                <a:latin typeface="ArialMT"/>
                <a:ea typeface="ArialMT"/>
                <a:cs typeface="ArialMT"/>
              </a:rPr>
              <a:t>● </a:t>
            </a:r>
            <a:r>
              <a:rPr lang="en-US" sz="1300" dirty="0" err="1">
                <a:solidFill>
                  <a:schemeClr val="tx1">
                    <a:lumMod val="65000"/>
                    <a:lumOff val="35000"/>
                  </a:schemeClr>
                </a:solidFill>
                <a:latin typeface="Arial" panose="020B0604020202020204" pitchFamily="34" charset="0"/>
                <a:cs typeface="Arial" panose="020B0604020202020204" pitchFamily="34" charset="0"/>
              </a:rPr>
              <a:t>Mô</a:t>
            </a:r>
            <a:r>
              <a:rPr lang="en-US" sz="1300" dirty="0">
                <a:solidFill>
                  <a:schemeClr val="tx1">
                    <a:lumMod val="65000"/>
                    <a:lumOff val="35000"/>
                  </a:schemeClr>
                </a:solidFill>
                <a:latin typeface="Arial" panose="020B0604020202020204" pitchFamily="34" charset="0"/>
                <a:cs typeface="Arial" panose="020B0604020202020204" pitchFamily="34" charset="0"/>
              </a:rPr>
              <a:t> </a:t>
            </a:r>
            <a:r>
              <a:rPr lang="en-US" sz="1300" dirty="0" err="1">
                <a:solidFill>
                  <a:schemeClr val="tx1">
                    <a:lumMod val="65000"/>
                    <a:lumOff val="35000"/>
                  </a:schemeClr>
                </a:solidFill>
                <a:latin typeface="Arial" panose="020B0604020202020204" pitchFamily="34" charset="0"/>
                <a:cs typeface="Arial" panose="020B0604020202020204" pitchFamily="34" charset="0"/>
              </a:rPr>
              <a:t>hình</a:t>
            </a:r>
            <a:r>
              <a:rPr lang="en-US" sz="1300" dirty="0">
                <a:solidFill>
                  <a:schemeClr val="tx1">
                    <a:lumMod val="65000"/>
                    <a:lumOff val="35000"/>
                  </a:schemeClr>
                </a:solidFill>
                <a:latin typeface="Arial" panose="020B0604020202020204" pitchFamily="34" charset="0"/>
                <a:cs typeface="Arial" panose="020B0604020202020204" pitchFamily="34" charset="0"/>
              </a:rPr>
              <a:t> LSTM</a:t>
            </a:r>
          </a:p>
        </p:txBody>
      </p:sp>
      <p:pic>
        <p:nvPicPr>
          <p:cNvPr id="15" name="Picture 14">
            <a:extLst>
              <a:ext uri="{FF2B5EF4-FFF2-40B4-BE49-F238E27FC236}">
                <a16:creationId xmlns:a16="http://schemas.microsoft.com/office/drawing/2014/main" id="{61DFEFE9-858D-3248-5F16-370250AEE4C0}"/>
              </a:ext>
            </a:extLst>
          </p:cNvPr>
          <p:cNvPicPr>
            <a:picLocks noChangeAspect="1"/>
          </p:cNvPicPr>
          <p:nvPr/>
        </p:nvPicPr>
        <p:blipFill>
          <a:blip r:embed="rId5"/>
          <a:stretch>
            <a:fillRect/>
          </a:stretch>
        </p:blipFill>
        <p:spPr>
          <a:xfrm>
            <a:off x="6718897" y="1487572"/>
            <a:ext cx="5396904" cy="1724267"/>
          </a:xfrm>
          <a:prstGeom prst="rect">
            <a:avLst/>
          </a:prstGeom>
        </p:spPr>
      </p:pic>
      <p:sp>
        <p:nvSpPr>
          <p:cNvPr id="16" name="TextBox 15">
            <a:extLst>
              <a:ext uri="{FF2B5EF4-FFF2-40B4-BE49-F238E27FC236}">
                <a16:creationId xmlns:a16="http://schemas.microsoft.com/office/drawing/2014/main" id="{FC892E36-09A9-B368-0CB3-DBDC453BC95B}"/>
              </a:ext>
            </a:extLst>
          </p:cNvPr>
          <p:cNvSpPr txBox="1"/>
          <p:nvPr/>
        </p:nvSpPr>
        <p:spPr>
          <a:xfrm>
            <a:off x="424131" y="3567430"/>
            <a:ext cx="4077268" cy="369332"/>
          </a:xfrm>
          <a:prstGeom prst="rect">
            <a:avLst/>
          </a:prstGeom>
          <a:noFill/>
        </p:spPr>
        <p:txBody>
          <a:bodyPr wrap="square" rtlCol="0">
            <a:spAutoFit/>
          </a:bodyPr>
          <a:lstStyle/>
          <a:p>
            <a:r>
              <a:rPr lang="en-US" dirty="0">
                <a:solidFill>
                  <a:srgbClr val="595959"/>
                </a:solidFill>
                <a:latin typeface="ArialMT"/>
                <a:ea typeface="ArialMT"/>
                <a:cs typeface="ArialMT"/>
              </a:rPr>
              <a:t>● </a:t>
            </a:r>
            <a:r>
              <a:rPr lang="en-US" sz="1300" dirty="0" err="1">
                <a:solidFill>
                  <a:schemeClr val="tx1">
                    <a:lumMod val="65000"/>
                    <a:lumOff val="35000"/>
                  </a:schemeClr>
                </a:solidFill>
                <a:latin typeface="Arial" panose="020B0604020202020204" pitchFamily="34" charset="0"/>
                <a:cs typeface="Arial" panose="020B0604020202020204" pitchFamily="34" charset="0"/>
              </a:rPr>
              <a:t>Mô</a:t>
            </a:r>
            <a:r>
              <a:rPr lang="en-US" sz="1300" dirty="0">
                <a:solidFill>
                  <a:schemeClr val="tx1">
                    <a:lumMod val="65000"/>
                    <a:lumOff val="35000"/>
                  </a:schemeClr>
                </a:solidFill>
                <a:latin typeface="Arial" panose="020B0604020202020204" pitchFamily="34" charset="0"/>
                <a:cs typeface="Arial" panose="020B0604020202020204" pitchFamily="34" charset="0"/>
              </a:rPr>
              <a:t> </a:t>
            </a:r>
            <a:r>
              <a:rPr lang="en-US" sz="1300" dirty="0" err="1">
                <a:solidFill>
                  <a:schemeClr val="tx1">
                    <a:lumMod val="65000"/>
                    <a:lumOff val="35000"/>
                  </a:schemeClr>
                </a:solidFill>
                <a:latin typeface="Arial" panose="020B0604020202020204" pitchFamily="34" charset="0"/>
                <a:cs typeface="Arial" panose="020B0604020202020204" pitchFamily="34" charset="0"/>
              </a:rPr>
              <a:t>hình</a:t>
            </a:r>
            <a:r>
              <a:rPr lang="en-US" sz="1300" dirty="0">
                <a:solidFill>
                  <a:schemeClr val="tx1">
                    <a:lumMod val="65000"/>
                    <a:lumOff val="35000"/>
                  </a:schemeClr>
                </a:solidFill>
                <a:latin typeface="Arial" panose="020B0604020202020204" pitchFamily="34" charset="0"/>
                <a:cs typeface="Arial" panose="020B0604020202020204" pitchFamily="34" charset="0"/>
              </a:rPr>
              <a:t> Random Forest</a:t>
            </a:r>
          </a:p>
        </p:txBody>
      </p:sp>
      <p:pic>
        <p:nvPicPr>
          <p:cNvPr id="18" name="Picture 17">
            <a:extLst>
              <a:ext uri="{FF2B5EF4-FFF2-40B4-BE49-F238E27FC236}">
                <a16:creationId xmlns:a16="http://schemas.microsoft.com/office/drawing/2014/main" id="{23B35655-FAA3-8556-C423-1196EE16258B}"/>
              </a:ext>
            </a:extLst>
          </p:cNvPr>
          <p:cNvPicPr>
            <a:picLocks noChangeAspect="1"/>
          </p:cNvPicPr>
          <p:nvPr/>
        </p:nvPicPr>
        <p:blipFill>
          <a:blip r:embed="rId6"/>
          <a:stretch>
            <a:fillRect/>
          </a:stretch>
        </p:blipFill>
        <p:spPr>
          <a:xfrm>
            <a:off x="424131" y="4132376"/>
            <a:ext cx="4286848" cy="1676634"/>
          </a:xfrm>
          <a:prstGeom prst="rect">
            <a:avLst/>
          </a:prstGeom>
        </p:spPr>
      </p:pic>
    </p:spTree>
    <p:extLst>
      <p:ext uri="{BB962C8B-B14F-4D97-AF65-F5344CB8AC3E}">
        <p14:creationId xmlns:p14="http://schemas.microsoft.com/office/powerpoint/2010/main" val="2279442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3C519B42-46BD-C55B-9424-90109215CD74}"/>
            </a:ext>
          </a:extLst>
        </p:cNvPr>
        <p:cNvGrpSpPr/>
        <p:nvPr/>
      </p:nvGrpSpPr>
      <p:grpSpPr>
        <a:xfrm>
          <a:off x="0" y="0"/>
          <a:ext cx="0" cy="0"/>
          <a:chOff x="0" y="0"/>
          <a:chExt cx="0" cy="0"/>
        </a:xfrm>
      </p:grpSpPr>
      <p:sp>
        <p:nvSpPr>
          <p:cNvPr id="339" name="Google Shape;339;p10">
            <a:extLst>
              <a:ext uri="{FF2B5EF4-FFF2-40B4-BE49-F238E27FC236}">
                <a16:creationId xmlns:a16="http://schemas.microsoft.com/office/drawing/2014/main" id="{F32B6A20-1703-4CDC-04C7-8E9550BCC754}"/>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13/15</a:t>
            </a:r>
            <a:endParaRPr sz="1400" b="0" i="0" u="none" strike="noStrike" cap="none" dirty="0">
              <a:solidFill>
                <a:srgbClr val="B2B2B2"/>
              </a:solidFill>
              <a:latin typeface="Times New Roman"/>
              <a:ea typeface="Times New Roman"/>
              <a:cs typeface="Times New Roman"/>
              <a:sym typeface="Times New Roman"/>
            </a:endParaRPr>
          </a:p>
        </p:txBody>
      </p:sp>
      <p:sp>
        <p:nvSpPr>
          <p:cNvPr id="340" name="Google Shape;340;p10">
            <a:extLst>
              <a:ext uri="{FF2B5EF4-FFF2-40B4-BE49-F238E27FC236}">
                <a16:creationId xmlns:a16="http://schemas.microsoft.com/office/drawing/2014/main" id="{6BD54648-CA9D-B1AC-45A1-1A4EF0278DBF}"/>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lvl="0">
              <a:spcBef>
                <a:spcPts val="0"/>
              </a:spcBef>
              <a:buClr>
                <a:srgbClr val="000000"/>
              </a:buClr>
              <a:buSzPts val="4000"/>
            </a:pPr>
            <a:r>
              <a:rPr lang="en-US" sz="3200" b="1" dirty="0" err="1">
                <a:latin typeface="Roboto" panose="02000000000000000000" pitchFamily="2" charset="0"/>
                <a:ea typeface="Roboto" panose="02000000000000000000" pitchFamily="2" charset="0"/>
                <a:cs typeface="Roboto" panose="02000000000000000000" pitchFamily="2" charset="0"/>
                <a:sym typeface="Arial"/>
              </a:rPr>
              <a:t>Kết</a:t>
            </a:r>
            <a:r>
              <a:rPr lang="en-US" sz="3200" b="1" dirty="0">
                <a:latin typeface="Roboto" panose="02000000000000000000" pitchFamily="2" charset="0"/>
                <a:ea typeface="Roboto" panose="02000000000000000000" pitchFamily="2" charset="0"/>
                <a:cs typeface="Roboto" panose="02000000000000000000" pitchFamily="2" charset="0"/>
                <a:sym typeface="Arial"/>
              </a:rPr>
              <a:t> </a:t>
            </a:r>
            <a:r>
              <a:rPr lang="en-US" sz="3200" b="1" dirty="0" err="1">
                <a:latin typeface="Roboto" panose="02000000000000000000" pitchFamily="2" charset="0"/>
                <a:ea typeface="Roboto" panose="02000000000000000000" pitchFamily="2" charset="0"/>
                <a:cs typeface="Roboto" panose="02000000000000000000" pitchFamily="2" charset="0"/>
                <a:sym typeface="Arial"/>
              </a:rPr>
              <a:t>quả</a:t>
            </a:r>
            <a:r>
              <a:rPr lang="en-US" sz="3200" b="1" dirty="0">
                <a:latin typeface="Roboto" panose="02000000000000000000" pitchFamily="2" charset="0"/>
                <a:ea typeface="Roboto" panose="02000000000000000000" pitchFamily="2" charset="0"/>
                <a:cs typeface="Roboto" panose="02000000000000000000" pitchFamily="2" charset="0"/>
                <a:sym typeface="Arial"/>
              </a:rPr>
              <a:t> </a:t>
            </a:r>
            <a:r>
              <a:rPr lang="en-US" sz="3200" b="1" dirty="0" err="1">
                <a:latin typeface="Roboto" panose="02000000000000000000" pitchFamily="2" charset="0"/>
                <a:ea typeface="Roboto" panose="02000000000000000000" pitchFamily="2" charset="0"/>
                <a:cs typeface="Roboto" panose="02000000000000000000" pitchFamily="2" charset="0"/>
                <a:sym typeface="Arial"/>
              </a:rPr>
              <a:t>mô</a:t>
            </a:r>
            <a:r>
              <a:rPr lang="en-US" sz="3200" b="1" dirty="0">
                <a:latin typeface="Roboto" panose="02000000000000000000" pitchFamily="2" charset="0"/>
                <a:ea typeface="Roboto" panose="02000000000000000000" pitchFamily="2" charset="0"/>
                <a:cs typeface="Roboto" panose="02000000000000000000" pitchFamily="2" charset="0"/>
                <a:sym typeface="Arial"/>
              </a:rPr>
              <a:t> </a:t>
            </a:r>
            <a:r>
              <a:rPr lang="en-US" sz="3200" b="1" dirty="0" err="1">
                <a:latin typeface="Roboto" panose="02000000000000000000" pitchFamily="2" charset="0"/>
                <a:ea typeface="Roboto" panose="02000000000000000000" pitchFamily="2" charset="0"/>
                <a:cs typeface="Roboto" panose="02000000000000000000" pitchFamily="2" charset="0"/>
                <a:sym typeface="Arial"/>
              </a:rPr>
              <a:t>hình</a:t>
            </a:r>
            <a:endParaRPr sz="32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3A15C165-A9A4-8D42-F4E7-114C2E2159EC}"/>
              </a:ext>
            </a:extLst>
          </p:cNvPr>
          <p:cNvPicPr>
            <a:picLocks noChangeAspect="1"/>
          </p:cNvPicPr>
          <p:nvPr/>
        </p:nvPicPr>
        <p:blipFill>
          <a:blip r:embed="rId3"/>
          <a:stretch>
            <a:fillRect/>
          </a:stretch>
        </p:blipFill>
        <p:spPr>
          <a:xfrm>
            <a:off x="-2966" y="1844"/>
            <a:ext cx="854195" cy="867302"/>
          </a:xfrm>
          <a:prstGeom prst="rect">
            <a:avLst/>
          </a:prstGeom>
        </p:spPr>
      </p:pic>
      <p:sp>
        <p:nvSpPr>
          <p:cNvPr id="4" name="Google Shape;262;p2">
            <a:extLst>
              <a:ext uri="{FF2B5EF4-FFF2-40B4-BE49-F238E27FC236}">
                <a16:creationId xmlns:a16="http://schemas.microsoft.com/office/drawing/2014/main" id="{A394FFC2-3E77-44AC-460E-EAE31F294C72}"/>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5D81CDD1-2B1F-EE16-3E90-C82B7B6AE6C4}"/>
              </a:ext>
            </a:extLst>
          </p:cNvPr>
          <p:cNvPicPr>
            <a:picLocks noChangeAspect="1"/>
          </p:cNvPicPr>
          <p:nvPr/>
        </p:nvPicPr>
        <p:blipFill>
          <a:blip r:embed="rId4"/>
          <a:stretch>
            <a:fillRect/>
          </a:stretch>
        </p:blipFill>
        <p:spPr>
          <a:xfrm>
            <a:off x="1388615" y="1556157"/>
            <a:ext cx="8839117" cy="3134375"/>
          </a:xfrm>
          <a:prstGeom prst="rect">
            <a:avLst/>
          </a:prstGeom>
        </p:spPr>
      </p:pic>
    </p:spTree>
    <p:extLst>
      <p:ext uri="{BB962C8B-B14F-4D97-AF65-F5344CB8AC3E}">
        <p14:creationId xmlns:p14="http://schemas.microsoft.com/office/powerpoint/2010/main" val="3539655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B66D4BFE-DCBD-14BC-79F8-B0611F06DF5C}"/>
            </a:ext>
          </a:extLst>
        </p:cNvPr>
        <p:cNvGrpSpPr/>
        <p:nvPr/>
      </p:nvGrpSpPr>
      <p:grpSpPr>
        <a:xfrm>
          <a:off x="0" y="0"/>
          <a:ext cx="0" cy="0"/>
          <a:chOff x="0" y="0"/>
          <a:chExt cx="0" cy="0"/>
        </a:xfrm>
      </p:grpSpPr>
      <p:sp>
        <p:nvSpPr>
          <p:cNvPr id="339" name="Google Shape;339;p10">
            <a:extLst>
              <a:ext uri="{FF2B5EF4-FFF2-40B4-BE49-F238E27FC236}">
                <a16:creationId xmlns:a16="http://schemas.microsoft.com/office/drawing/2014/main" id="{E0336447-28D2-7DDF-59DC-6C66D2C726C5}"/>
              </a:ext>
            </a:extLst>
          </p:cNvPr>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14/15</a:t>
            </a:r>
            <a:endParaRPr sz="1400" b="0" i="0" u="none" strike="noStrike" cap="none" dirty="0">
              <a:solidFill>
                <a:srgbClr val="B2B2B2"/>
              </a:solidFill>
              <a:latin typeface="Times New Roman"/>
              <a:ea typeface="Times New Roman"/>
              <a:cs typeface="Times New Roman"/>
              <a:sym typeface="Times New Roman"/>
            </a:endParaRPr>
          </a:p>
        </p:txBody>
      </p:sp>
      <p:sp>
        <p:nvSpPr>
          <p:cNvPr id="340" name="Google Shape;340;p10">
            <a:extLst>
              <a:ext uri="{FF2B5EF4-FFF2-40B4-BE49-F238E27FC236}">
                <a16:creationId xmlns:a16="http://schemas.microsoft.com/office/drawing/2014/main" id="{CB946025-4245-7215-1552-4ECEE684C64E}"/>
              </a:ext>
            </a:extLst>
          </p:cNvPr>
          <p:cNvSpPr txBox="1">
            <a:spLocks noGrp="1"/>
          </p:cNvSpPr>
          <p:nvPr>
            <p:ph type="title" idx="4294967295"/>
          </p:nvPr>
        </p:nvSpPr>
        <p:spPr>
          <a:xfrm>
            <a:off x="828000" y="0"/>
            <a:ext cx="11363400" cy="856080"/>
          </a:xfrm>
          <a:prstGeom prst="rect">
            <a:avLst/>
          </a:prstGeom>
          <a:solidFill>
            <a:srgbClr val="FFD966"/>
          </a:solidFill>
          <a:ln>
            <a:noFill/>
          </a:ln>
        </p:spPr>
        <p:txBody>
          <a:bodyPr spcFirstLastPara="1" wrap="square" lIns="90000" tIns="45000" rIns="90000" bIns="45000" anchor="ctr" anchorCtr="0">
            <a:noAutofit/>
          </a:bodyPr>
          <a:lstStyle/>
          <a:p>
            <a:pPr marL="0" marR="0" lvl="0" indent="0" algn="l" rtl="0">
              <a:lnSpc>
                <a:spcPct val="90000"/>
              </a:lnSpc>
              <a:spcBef>
                <a:spcPts val="0"/>
              </a:spcBef>
              <a:spcAft>
                <a:spcPts val="0"/>
              </a:spcAft>
              <a:buClr>
                <a:srgbClr val="000000"/>
              </a:buClr>
              <a:buSzPts val="4000"/>
              <a:buFont typeface="Arial"/>
              <a:buNone/>
            </a:pPr>
            <a:r>
              <a:rPr lang="en-US" sz="4000" b="1" i="0" u="none" strike="noStrike" cap="none" dirty="0">
                <a:latin typeface="Roboto" panose="02000000000000000000" pitchFamily="2" charset="0"/>
                <a:ea typeface="Roboto" panose="02000000000000000000" pitchFamily="2" charset="0"/>
                <a:cs typeface="Roboto" panose="02000000000000000000" pitchFamily="2" charset="0"/>
                <a:sym typeface="Arial"/>
              </a:rPr>
              <a:t>Contents</a:t>
            </a:r>
            <a:endParaRPr sz="4000" b="1" i="0" u="none" strike="noStrike" cap="none" dirty="0">
              <a:latin typeface="Roboto" panose="02000000000000000000" pitchFamily="2" charset="0"/>
              <a:ea typeface="Roboto" panose="02000000000000000000" pitchFamily="2" charset="0"/>
              <a:cs typeface="Roboto" panose="02000000000000000000" pitchFamily="2" charset="0"/>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BE90F50E-0B00-03E3-8E5A-39764E6FD604}"/>
              </a:ext>
            </a:extLst>
          </p:cNvPr>
          <p:cNvPicPr>
            <a:picLocks noChangeAspect="1"/>
          </p:cNvPicPr>
          <p:nvPr/>
        </p:nvPicPr>
        <p:blipFill>
          <a:blip r:embed="rId3"/>
          <a:stretch>
            <a:fillRect/>
          </a:stretch>
        </p:blipFill>
        <p:spPr>
          <a:xfrm>
            <a:off x="-2966" y="1844"/>
            <a:ext cx="854195" cy="867302"/>
          </a:xfrm>
          <a:prstGeom prst="rect">
            <a:avLst/>
          </a:prstGeom>
        </p:spPr>
      </p:pic>
      <p:sp>
        <p:nvSpPr>
          <p:cNvPr id="4" name="Google Shape;262;p2">
            <a:extLst>
              <a:ext uri="{FF2B5EF4-FFF2-40B4-BE49-F238E27FC236}">
                <a16:creationId xmlns:a16="http://schemas.microsoft.com/office/drawing/2014/main" id="{DEB76018-3801-A1FD-03AB-C82715904868}"/>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grpSp>
        <p:nvGrpSpPr>
          <p:cNvPr id="2" name="Group 3">
            <a:extLst>
              <a:ext uri="{FF2B5EF4-FFF2-40B4-BE49-F238E27FC236}">
                <a16:creationId xmlns:a16="http://schemas.microsoft.com/office/drawing/2014/main" id="{6C4332B2-A422-1D30-9F29-22E20ED4839D}"/>
              </a:ext>
            </a:extLst>
          </p:cNvPr>
          <p:cNvGrpSpPr>
            <a:grpSpLocks/>
          </p:cNvGrpSpPr>
          <p:nvPr/>
        </p:nvGrpSpPr>
        <p:grpSpPr bwMode="auto">
          <a:xfrm>
            <a:off x="3352800" y="1311646"/>
            <a:ext cx="762000" cy="665162"/>
            <a:chOff x="1110" y="2656"/>
            <a:chExt cx="1549" cy="1351"/>
          </a:xfrm>
          <a:solidFill>
            <a:schemeClr val="bg1">
              <a:lumMod val="95000"/>
            </a:schemeClr>
          </a:solidFill>
        </p:grpSpPr>
        <p:sp>
          <p:nvSpPr>
            <p:cNvPr id="6" name="AutoShape 4">
              <a:extLst>
                <a:ext uri="{FF2B5EF4-FFF2-40B4-BE49-F238E27FC236}">
                  <a16:creationId xmlns:a16="http://schemas.microsoft.com/office/drawing/2014/main" id="{1D10F7F0-36F2-4D94-60BD-942468E4DF45}"/>
                </a:ext>
              </a:extLst>
            </p:cNvPr>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7" name="AutoShape 5">
              <a:extLst>
                <a:ext uri="{FF2B5EF4-FFF2-40B4-BE49-F238E27FC236}">
                  <a16:creationId xmlns:a16="http://schemas.microsoft.com/office/drawing/2014/main" id="{45EEDE5C-8464-BCFF-9289-944BB8B7E5F3}"/>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8" name="AutoShape 6">
              <a:extLst>
                <a:ext uri="{FF2B5EF4-FFF2-40B4-BE49-F238E27FC236}">
                  <a16:creationId xmlns:a16="http://schemas.microsoft.com/office/drawing/2014/main" id="{3F94C64B-8731-6A11-CB78-234901F4A887}"/>
                </a:ext>
              </a:extLst>
            </p:cNvPr>
            <p:cNvSpPr>
              <a:spLocks noChangeArrowheads="1"/>
            </p:cNvSpPr>
            <p:nvPr/>
          </p:nvSpPr>
          <p:spPr bwMode="gray">
            <a:xfrm>
              <a:off x="1200" y="2736"/>
              <a:ext cx="1350" cy="1168"/>
            </a:xfrm>
            <a:prstGeom prst="hexagon">
              <a:avLst>
                <a:gd name="adj" fmla="val 28896"/>
                <a:gd name="vf" fmla="val 115470"/>
              </a:avLst>
            </a:prstGeom>
            <a:solidFill>
              <a:schemeClr val="bg1">
                <a:lumMod val="95000"/>
              </a:schemeClr>
            </a:solid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9" name="Line 11">
            <a:extLst>
              <a:ext uri="{FF2B5EF4-FFF2-40B4-BE49-F238E27FC236}">
                <a16:creationId xmlns:a16="http://schemas.microsoft.com/office/drawing/2014/main" id="{1A368463-7BF9-F069-8044-B83DFCF95FDA}"/>
              </a:ext>
            </a:extLst>
          </p:cNvPr>
          <p:cNvSpPr>
            <a:spLocks noChangeShapeType="1"/>
          </p:cNvSpPr>
          <p:nvPr/>
        </p:nvSpPr>
        <p:spPr bwMode="auto">
          <a:xfrm>
            <a:off x="3962400" y="1948607"/>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0" name="Text Box 12">
            <a:extLst>
              <a:ext uri="{FF2B5EF4-FFF2-40B4-BE49-F238E27FC236}">
                <a16:creationId xmlns:a16="http://schemas.microsoft.com/office/drawing/2014/main" id="{C58491FE-D03F-5DCF-0B1A-BBDB74ECED5E}"/>
              </a:ext>
            </a:extLst>
          </p:cNvPr>
          <p:cNvSpPr txBox="1">
            <a:spLocks noChangeArrowheads="1"/>
          </p:cNvSpPr>
          <p:nvPr/>
        </p:nvSpPr>
        <p:spPr bwMode="auto">
          <a:xfrm>
            <a:off x="4191000" y="1391143"/>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2800" b="1" dirty="0" err="1">
                <a:solidFill>
                  <a:schemeClr val="bg1">
                    <a:lumMod val="85000"/>
                  </a:schemeClr>
                </a:solidFill>
                <a:latin typeface="Arial" panose="020B0604020202020204" pitchFamily="34" charset="0"/>
                <a:cs typeface="Arial" panose="020B0604020202020204" pitchFamily="34" charset="0"/>
              </a:rPr>
              <a:t>Tổng</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quan</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bài</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toán</a:t>
            </a:r>
            <a:endParaRPr lang="en-US" sz="2800" b="1" dirty="0">
              <a:solidFill>
                <a:schemeClr val="bg1">
                  <a:lumMod val="85000"/>
                </a:schemeClr>
              </a:solidFill>
              <a:latin typeface="Arial" panose="020B0604020202020204" pitchFamily="34" charset="0"/>
              <a:cs typeface="Arial" panose="020B0604020202020204" pitchFamily="34" charset="0"/>
            </a:endParaRPr>
          </a:p>
        </p:txBody>
      </p:sp>
      <p:sp>
        <p:nvSpPr>
          <p:cNvPr id="11" name="Text Box 13">
            <a:extLst>
              <a:ext uri="{FF2B5EF4-FFF2-40B4-BE49-F238E27FC236}">
                <a16:creationId xmlns:a16="http://schemas.microsoft.com/office/drawing/2014/main" id="{B1E9F4F9-B923-ED07-FC52-A89ABBCE8192}"/>
              </a:ext>
            </a:extLst>
          </p:cNvPr>
          <p:cNvSpPr txBox="1">
            <a:spLocks noChangeArrowheads="1"/>
          </p:cNvSpPr>
          <p:nvPr/>
        </p:nvSpPr>
        <p:spPr bwMode="gray">
          <a:xfrm>
            <a:off x="3598963" y="1412777"/>
            <a:ext cx="269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a:t>
            </a:r>
          </a:p>
        </p:txBody>
      </p:sp>
      <p:sp>
        <p:nvSpPr>
          <p:cNvPr id="12" name="Text Box 15">
            <a:extLst>
              <a:ext uri="{FF2B5EF4-FFF2-40B4-BE49-F238E27FC236}">
                <a16:creationId xmlns:a16="http://schemas.microsoft.com/office/drawing/2014/main" id="{FF23CE3C-75A2-7F5B-2FB5-CE9CA62B2008}"/>
              </a:ext>
            </a:extLst>
          </p:cNvPr>
          <p:cNvSpPr txBox="1">
            <a:spLocks noChangeArrowheads="1"/>
          </p:cNvSpPr>
          <p:nvPr/>
        </p:nvSpPr>
        <p:spPr bwMode="auto">
          <a:xfrm>
            <a:off x="4191000" y="3511990"/>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err="1">
                <a:solidFill>
                  <a:schemeClr val="bg1">
                    <a:lumMod val="85000"/>
                  </a:schemeClr>
                </a:solidFill>
                <a:latin typeface="Arial" panose="020B0604020202020204" pitchFamily="34" charset="0"/>
                <a:cs typeface="Arial" panose="020B0604020202020204" pitchFamily="34" charset="0"/>
              </a:rPr>
              <a:t>Cài</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đặt</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mô</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hình</a:t>
            </a:r>
            <a:endParaRPr lang="en-US" sz="2800" b="1" dirty="0">
              <a:solidFill>
                <a:schemeClr val="bg1">
                  <a:lumMod val="85000"/>
                </a:schemeClr>
              </a:solidFill>
              <a:latin typeface="Arial" panose="020B0604020202020204" pitchFamily="34" charset="0"/>
              <a:cs typeface="Arial" panose="020B0604020202020204" pitchFamily="34" charset="0"/>
            </a:endParaRPr>
          </a:p>
        </p:txBody>
      </p:sp>
      <p:sp>
        <p:nvSpPr>
          <p:cNvPr id="13" name="Text Box 16">
            <a:extLst>
              <a:ext uri="{FF2B5EF4-FFF2-40B4-BE49-F238E27FC236}">
                <a16:creationId xmlns:a16="http://schemas.microsoft.com/office/drawing/2014/main" id="{F390CBA7-8ED9-FC12-2B9B-B708514BBA40}"/>
              </a:ext>
            </a:extLst>
          </p:cNvPr>
          <p:cNvSpPr txBox="1">
            <a:spLocks noChangeArrowheads="1"/>
          </p:cNvSpPr>
          <p:nvPr/>
        </p:nvSpPr>
        <p:spPr bwMode="gray">
          <a:xfrm>
            <a:off x="3506884" y="3582344"/>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grpSp>
        <p:nvGrpSpPr>
          <p:cNvPr id="14" name="Group 17">
            <a:extLst>
              <a:ext uri="{FF2B5EF4-FFF2-40B4-BE49-F238E27FC236}">
                <a16:creationId xmlns:a16="http://schemas.microsoft.com/office/drawing/2014/main" id="{147947CA-A996-25A0-467F-83DD82E2F6E0}"/>
              </a:ext>
            </a:extLst>
          </p:cNvPr>
          <p:cNvGrpSpPr>
            <a:grpSpLocks/>
          </p:cNvGrpSpPr>
          <p:nvPr/>
        </p:nvGrpSpPr>
        <p:grpSpPr bwMode="auto">
          <a:xfrm>
            <a:off x="3352800" y="2367702"/>
            <a:ext cx="762000" cy="665162"/>
            <a:chOff x="1110" y="2656"/>
            <a:chExt cx="1549" cy="1351"/>
          </a:xfrm>
          <a:solidFill>
            <a:schemeClr val="bg1">
              <a:lumMod val="95000"/>
            </a:schemeClr>
          </a:solidFill>
        </p:grpSpPr>
        <p:sp>
          <p:nvSpPr>
            <p:cNvPr id="15" name="AutoShape 18">
              <a:extLst>
                <a:ext uri="{FF2B5EF4-FFF2-40B4-BE49-F238E27FC236}">
                  <a16:creationId xmlns:a16="http://schemas.microsoft.com/office/drawing/2014/main" id="{4FC8978C-82A5-258C-4F2E-3D25C63884F6}"/>
                </a:ext>
              </a:extLst>
            </p:cNvPr>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6" name="AutoShape 19">
              <a:extLst>
                <a:ext uri="{FF2B5EF4-FFF2-40B4-BE49-F238E27FC236}">
                  <a16:creationId xmlns:a16="http://schemas.microsoft.com/office/drawing/2014/main" id="{C89306C7-9975-C140-7AE9-E057BF15407D}"/>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7" name="AutoShape 20">
              <a:extLst>
                <a:ext uri="{FF2B5EF4-FFF2-40B4-BE49-F238E27FC236}">
                  <a16:creationId xmlns:a16="http://schemas.microsoft.com/office/drawing/2014/main" id="{9AB57E98-42EA-10A3-F8CC-AE7186CEBC62}"/>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18" name="Line 25">
            <a:extLst>
              <a:ext uri="{FF2B5EF4-FFF2-40B4-BE49-F238E27FC236}">
                <a16:creationId xmlns:a16="http://schemas.microsoft.com/office/drawing/2014/main" id="{D298494A-D09E-A3B9-8FD0-3E9507697B39}"/>
              </a:ext>
            </a:extLst>
          </p:cNvPr>
          <p:cNvSpPr>
            <a:spLocks noChangeShapeType="1"/>
          </p:cNvSpPr>
          <p:nvPr/>
        </p:nvSpPr>
        <p:spPr bwMode="auto">
          <a:xfrm>
            <a:off x="3962400" y="3013398"/>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19" name="Text Box 26">
            <a:extLst>
              <a:ext uri="{FF2B5EF4-FFF2-40B4-BE49-F238E27FC236}">
                <a16:creationId xmlns:a16="http://schemas.microsoft.com/office/drawing/2014/main" id="{F8AA84BE-66E4-600D-ADA8-1C36BB9269F0}"/>
              </a:ext>
            </a:extLst>
          </p:cNvPr>
          <p:cNvSpPr txBox="1">
            <a:spLocks noChangeArrowheads="1"/>
          </p:cNvSpPr>
          <p:nvPr/>
        </p:nvSpPr>
        <p:spPr bwMode="auto">
          <a:xfrm>
            <a:off x="4191000" y="2456984"/>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err="1">
                <a:solidFill>
                  <a:schemeClr val="bg1">
                    <a:lumMod val="85000"/>
                  </a:schemeClr>
                </a:solidFill>
                <a:latin typeface="Arial" panose="020B0604020202020204" pitchFamily="34" charset="0"/>
                <a:cs typeface="Arial" panose="020B0604020202020204" pitchFamily="34" charset="0"/>
              </a:rPr>
              <a:t>Mô</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hình</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học</a:t>
            </a:r>
            <a:r>
              <a:rPr lang="en-US" sz="2800" b="1" dirty="0">
                <a:solidFill>
                  <a:schemeClr val="bg1">
                    <a:lumMod val="85000"/>
                  </a:schemeClr>
                </a:solidFill>
                <a:latin typeface="Arial" panose="020B0604020202020204" pitchFamily="34" charset="0"/>
                <a:cs typeface="Arial" panose="020B0604020202020204" pitchFamily="34" charset="0"/>
              </a:rPr>
              <a:t> </a:t>
            </a:r>
            <a:r>
              <a:rPr lang="en-US" sz="2800" b="1" dirty="0" err="1">
                <a:solidFill>
                  <a:schemeClr val="bg1">
                    <a:lumMod val="85000"/>
                  </a:schemeClr>
                </a:solidFill>
                <a:latin typeface="Arial" panose="020B0604020202020204" pitchFamily="34" charset="0"/>
                <a:cs typeface="Arial" panose="020B0604020202020204" pitchFamily="34" charset="0"/>
              </a:rPr>
              <a:t>máy</a:t>
            </a:r>
            <a:endParaRPr lang="en-US" b="1" dirty="0">
              <a:solidFill>
                <a:schemeClr val="bg1">
                  <a:lumMod val="85000"/>
                </a:schemeClr>
              </a:solidFill>
              <a:latin typeface="Arial" panose="020B0604020202020204" pitchFamily="34" charset="0"/>
              <a:cs typeface="Arial" panose="020B0604020202020204" pitchFamily="34" charset="0"/>
            </a:endParaRPr>
          </a:p>
        </p:txBody>
      </p:sp>
      <p:sp>
        <p:nvSpPr>
          <p:cNvPr id="20" name="Text Box 27">
            <a:extLst>
              <a:ext uri="{FF2B5EF4-FFF2-40B4-BE49-F238E27FC236}">
                <a16:creationId xmlns:a16="http://schemas.microsoft.com/office/drawing/2014/main" id="{E3CC314C-A297-E259-64D8-6948132D8781}"/>
              </a:ext>
            </a:extLst>
          </p:cNvPr>
          <p:cNvSpPr txBox="1">
            <a:spLocks noChangeArrowheads="1"/>
          </p:cNvSpPr>
          <p:nvPr/>
        </p:nvSpPr>
        <p:spPr bwMode="gray">
          <a:xfrm>
            <a:off x="3573429" y="2469017"/>
            <a:ext cx="3545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a:t>
            </a:r>
          </a:p>
        </p:txBody>
      </p:sp>
      <p:sp>
        <p:nvSpPr>
          <p:cNvPr id="21" name="Line 25">
            <a:extLst>
              <a:ext uri="{FF2B5EF4-FFF2-40B4-BE49-F238E27FC236}">
                <a16:creationId xmlns:a16="http://schemas.microsoft.com/office/drawing/2014/main" id="{E4AFDDA2-9B02-F2FB-A674-C41588B89E6B}"/>
              </a:ext>
            </a:extLst>
          </p:cNvPr>
          <p:cNvSpPr>
            <a:spLocks noChangeShapeType="1"/>
          </p:cNvSpPr>
          <p:nvPr/>
        </p:nvSpPr>
        <p:spPr bwMode="auto">
          <a:xfrm>
            <a:off x="3959696" y="407707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nvGrpSpPr>
          <p:cNvPr id="22" name="Group 17">
            <a:extLst>
              <a:ext uri="{FF2B5EF4-FFF2-40B4-BE49-F238E27FC236}">
                <a16:creationId xmlns:a16="http://schemas.microsoft.com/office/drawing/2014/main" id="{BD20817E-D2F5-1C96-336C-9CC565355709}"/>
              </a:ext>
            </a:extLst>
          </p:cNvPr>
          <p:cNvGrpSpPr>
            <a:grpSpLocks/>
          </p:cNvGrpSpPr>
          <p:nvPr/>
        </p:nvGrpSpPr>
        <p:grpSpPr bwMode="auto">
          <a:xfrm>
            <a:off x="3359696" y="3411910"/>
            <a:ext cx="762000" cy="665162"/>
            <a:chOff x="1110" y="2656"/>
            <a:chExt cx="1549" cy="1351"/>
          </a:xfrm>
          <a:solidFill>
            <a:schemeClr val="bg1">
              <a:lumMod val="95000"/>
            </a:schemeClr>
          </a:solidFill>
        </p:grpSpPr>
        <p:sp>
          <p:nvSpPr>
            <p:cNvPr id="23" name="AutoShape 18">
              <a:extLst>
                <a:ext uri="{FF2B5EF4-FFF2-40B4-BE49-F238E27FC236}">
                  <a16:creationId xmlns:a16="http://schemas.microsoft.com/office/drawing/2014/main" id="{182B819D-16B2-C984-564F-FADFA99BEC8A}"/>
                </a:ext>
              </a:extLst>
            </p:cNvPr>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4" name="AutoShape 19">
              <a:extLst>
                <a:ext uri="{FF2B5EF4-FFF2-40B4-BE49-F238E27FC236}">
                  <a16:creationId xmlns:a16="http://schemas.microsoft.com/office/drawing/2014/main" id="{8BFD1D20-4389-749D-81A4-4F1C745EDB53}"/>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5" name="AutoShape 20">
              <a:extLst>
                <a:ext uri="{FF2B5EF4-FFF2-40B4-BE49-F238E27FC236}">
                  <a16:creationId xmlns:a16="http://schemas.microsoft.com/office/drawing/2014/main" id="{C3260625-13E7-5936-4EE8-8BB57C3D0E04}"/>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26" name="Text Box 27">
            <a:extLst>
              <a:ext uri="{FF2B5EF4-FFF2-40B4-BE49-F238E27FC236}">
                <a16:creationId xmlns:a16="http://schemas.microsoft.com/office/drawing/2014/main" id="{F930A7DA-703D-D822-5098-42CFC1F25893}"/>
              </a:ext>
            </a:extLst>
          </p:cNvPr>
          <p:cNvSpPr txBox="1">
            <a:spLocks noChangeArrowheads="1"/>
          </p:cNvSpPr>
          <p:nvPr/>
        </p:nvSpPr>
        <p:spPr bwMode="gray">
          <a:xfrm>
            <a:off x="3518186" y="3525073"/>
            <a:ext cx="439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III</a:t>
            </a:r>
          </a:p>
        </p:txBody>
      </p:sp>
      <p:grpSp>
        <p:nvGrpSpPr>
          <p:cNvPr id="27" name="Group 21">
            <a:extLst>
              <a:ext uri="{FF2B5EF4-FFF2-40B4-BE49-F238E27FC236}">
                <a16:creationId xmlns:a16="http://schemas.microsoft.com/office/drawing/2014/main" id="{F3BF9C21-C958-5E62-4E92-7D5F017EB714}"/>
              </a:ext>
            </a:extLst>
          </p:cNvPr>
          <p:cNvGrpSpPr>
            <a:grpSpLocks/>
          </p:cNvGrpSpPr>
          <p:nvPr/>
        </p:nvGrpSpPr>
        <p:grpSpPr bwMode="auto">
          <a:xfrm>
            <a:off x="3352800" y="4515910"/>
            <a:ext cx="762000" cy="665162"/>
            <a:chOff x="3174" y="2656"/>
            <a:chExt cx="1549" cy="1351"/>
          </a:xfrm>
        </p:grpSpPr>
        <p:sp>
          <p:nvSpPr>
            <p:cNvPr id="28" name="AutoShape 22">
              <a:extLst>
                <a:ext uri="{FF2B5EF4-FFF2-40B4-BE49-F238E27FC236}">
                  <a16:creationId xmlns:a16="http://schemas.microsoft.com/office/drawing/2014/main" id="{2CA76D63-5F79-E96D-D602-6566D3F4B0C5}"/>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29" name="AutoShape 23">
              <a:extLst>
                <a:ext uri="{FF2B5EF4-FFF2-40B4-BE49-F238E27FC236}">
                  <a16:creationId xmlns:a16="http://schemas.microsoft.com/office/drawing/2014/main" id="{A9AA2388-3E7D-8372-5BA4-4FD2C89CB339}"/>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30" name="AutoShape 24">
              <a:extLst>
                <a:ext uri="{FF2B5EF4-FFF2-40B4-BE49-F238E27FC236}">
                  <a16:creationId xmlns:a16="http://schemas.microsoft.com/office/drawing/2014/main" id="{1F39FE42-5172-7BE8-2309-EC56D9F264AA}"/>
                </a:ext>
              </a:extLst>
            </p:cNvPr>
            <p:cNvSpPr>
              <a:spLocks noChangeArrowheads="1"/>
            </p:cNvSpPr>
            <p:nvPr/>
          </p:nvSpPr>
          <p:spPr bwMode="gray">
            <a:xfrm>
              <a:off x="3264" y="2736"/>
              <a:ext cx="1350" cy="1168"/>
            </a:xfrm>
            <a:prstGeom prst="hexagon">
              <a:avLst>
                <a:gd name="adj" fmla="val 28896"/>
                <a:gd name="vf" fmla="val 115470"/>
              </a:avLst>
            </a:prstGeom>
            <a:solidFill>
              <a:srgbClr val="8B177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grpSp>
      <p:sp>
        <p:nvSpPr>
          <p:cNvPr id="31" name="Line 28">
            <a:extLst>
              <a:ext uri="{FF2B5EF4-FFF2-40B4-BE49-F238E27FC236}">
                <a16:creationId xmlns:a16="http://schemas.microsoft.com/office/drawing/2014/main" id="{84B26247-1EBC-2D69-A06B-D842D435085F}"/>
              </a:ext>
            </a:extLst>
          </p:cNvPr>
          <p:cNvSpPr>
            <a:spLocks noChangeShapeType="1"/>
          </p:cNvSpPr>
          <p:nvPr/>
        </p:nvSpPr>
        <p:spPr bwMode="auto">
          <a:xfrm>
            <a:off x="3962400" y="5173638"/>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latin typeface="Arial" panose="020B0604020202020204" pitchFamily="34" charset="0"/>
              <a:cs typeface="Arial" panose="020B0604020202020204" pitchFamily="34" charset="0"/>
            </a:endParaRPr>
          </a:p>
        </p:txBody>
      </p:sp>
      <p:sp>
        <p:nvSpPr>
          <p:cNvPr id="32" name="Text Box 29">
            <a:extLst>
              <a:ext uri="{FF2B5EF4-FFF2-40B4-BE49-F238E27FC236}">
                <a16:creationId xmlns:a16="http://schemas.microsoft.com/office/drawing/2014/main" id="{AB72F2C0-BD04-7CA5-DE12-4A83AE64A68C}"/>
              </a:ext>
            </a:extLst>
          </p:cNvPr>
          <p:cNvSpPr txBox="1">
            <a:spLocks noChangeArrowheads="1"/>
          </p:cNvSpPr>
          <p:nvPr/>
        </p:nvSpPr>
        <p:spPr bwMode="auto">
          <a:xfrm>
            <a:off x="4191000" y="4626354"/>
            <a:ext cx="45692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b="1" dirty="0">
                <a:latin typeface="Arial" panose="020B0604020202020204" pitchFamily="34" charset="0"/>
                <a:ea typeface="Tahoma" pitchFamily="34" charset="0"/>
                <a:cs typeface="Arial" panose="020B0604020202020204" pitchFamily="34" charset="0"/>
              </a:rPr>
              <a:t>Demo </a:t>
            </a:r>
            <a:r>
              <a:rPr lang="en-US" sz="2800" b="1" dirty="0" err="1">
                <a:latin typeface="Arial" panose="020B0604020202020204" pitchFamily="34" charset="0"/>
                <a:ea typeface="Tahoma" pitchFamily="34" charset="0"/>
                <a:cs typeface="Arial" panose="020B0604020202020204" pitchFamily="34" charset="0"/>
              </a:rPr>
              <a:t>chương</a:t>
            </a:r>
            <a:r>
              <a:rPr lang="en-US" sz="2800" b="1" dirty="0">
                <a:latin typeface="Arial" panose="020B0604020202020204" pitchFamily="34" charset="0"/>
                <a:ea typeface="Tahoma" pitchFamily="34" charset="0"/>
                <a:cs typeface="Arial" panose="020B0604020202020204" pitchFamily="34" charset="0"/>
              </a:rPr>
              <a:t> </a:t>
            </a:r>
            <a:r>
              <a:rPr lang="en-US" sz="2800" b="1" dirty="0" err="1">
                <a:latin typeface="Arial" panose="020B0604020202020204" pitchFamily="34" charset="0"/>
                <a:ea typeface="Tahoma" pitchFamily="34" charset="0"/>
                <a:cs typeface="Arial" panose="020B0604020202020204" pitchFamily="34" charset="0"/>
              </a:rPr>
              <a:t>trình</a:t>
            </a:r>
            <a:endParaRPr lang="en-US" sz="2800" b="1" dirty="0">
              <a:latin typeface="Arial" panose="020B0604020202020204" pitchFamily="34" charset="0"/>
              <a:ea typeface="Tahoma" pitchFamily="34" charset="0"/>
              <a:cs typeface="Arial" panose="020B0604020202020204" pitchFamily="34" charset="0"/>
            </a:endParaRPr>
          </a:p>
        </p:txBody>
      </p:sp>
      <p:sp>
        <p:nvSpPr>
          <p:cNvPr id="33" name="Text Box 30">
            <a:extLst>
              <a:ext uri="{FF2B5EF4-FFF2-40B4-BE49-F238E27FC236}">
                <a16:creationId xmlns:a16="http://schemas.microsoft.com/office/drawing/2014/main" id="{11F1A90C-4B35-AD63-F905-248AB1B24538}"/>
              </a:ext>
            </a:extLst>
          </p:cNvPr>
          <p:cNvSpPr txBox="1">
            <a:spLocks noChangeArrowheads="1"/>
          </p:cNvSpPr>
          <p:nvPr/>
        </p:nvSpPr>
        <p:spPr bwMode="gray">
          <a:xfrm>
            <a:off x="3501285" y="4617225"/>
            <a:ext cx="4748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Arial" panose="020B0604020202020204" pitchFamily="34" charset="0"/>
                <a:cs typeface="Arial" panose="020B0604020202020204" pitchFamily="34" charset="0"/>
              </a:rPr>
              <a:t>IV</a:t>
            </a:r>
          </a:p>
        </p:txBody>
      </p:sp>
    </p:spTree>
    <p:extLst>
      <p:ext uri="{BB962C8B-B14F-4D97-AF65-F5344CB8AC3E}">
        <p14:creationId xmlns:p14="http://schemas.microsoft.com/office/powerpoint/2010/main" val="3047496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80" name="Google Shape;480;p24"/>
          <p:cNvSpPr txBox="1">
            <a:spLocks noGrp="1"/>
          </p:cNvSpPr>
          <p:nvPr>
            <p:ph type="sldNum" idx="12"/>
          </p:nvPr>
        </p:nvSpPr>
        <p:spPr>
          <a:xfrm>
            <a:off x="9114480" y="6370200"/>
            <a:ext cx="2722320" cy="364320"/>
          </a:xfrm>
          <a:prstGeom prst="rect">
            <a:avLst/>
          </a:prstGeom>
          <a:noFill/>
          <a:ln>
            <a:noFill/>
          </a:ln>
        </p:spPr>
        <p:txBody>
          <a:bodyPr spcFirstLastPara="1" wrap="square" lIns="90000" tIns="45000" rIns="90000" bIns="45000" anchor="ctr" anchorCtr="0">
            <a:noAutofit/>
          </a:bodyPr>
          <a:lstStyle/>
          <a:p>
            <a:pPr marL="0" marR="0" lvl="0" indent="0" algn="r" rtl="0">
              <a:lnSpc>
                <a:spcPct val="100000"/>
              </a:lnSpc>
              <a:spcBef>
                <a:spcPts val="0"/>
              </a:spcBef>
              <a:spcAft>
                <a:spcPts val="0"/>
              </a:spcAft>
              <a:buClr>
                <a:srgbClr val="B2B2B2"/>
              </a:buClr>
              <a:buSzPts val="1400"/>
              <a:buFont typeface="Arial"/>
              <a:buNone/>
            </a:pPr>
            <a:r>
              <a:rPr lang="en-US" dirty="0"/>
              <a:t>15/15</a:t>
            </a:r>
            <a:endParaRPr sz="1400" b="0" i="0" u="none" strike="noStrike" cap="none" dirty="0">
              <a:solidFill>
                <a:srgbClr val="B2B2B2"/>
              </a:solidFill>
              <a:latin typeface="Times New Roman"/>
              <a:ea typeface="Times New Roman"/>
              <a:cs typeface="Times New Roman"/>
              <a:sym typeface="Times New Roman"/>
            </a:endParaRPr>
          </a:p>
        </p:txBody>
      </p:sp>
      <p:sp>
        <p:nvSpPr>
          <p:cNvPr id="481" name="Google Shape;481;p24"/>
          <p:cNvSpPr txBox="1">
            <a:spLocks noGrp="1"/>
          </p:cNvSpPr>
          <p:nvPr>
            <p:ph type="title" idx="4294967295"/>
          </p:nvPr>
        </p:nvSpPr>
        <p:spPr>
          <a:xfrm>
            <a:off x="828000" y="0"/>
            <a:ext cx="11364000" cy="856080"/>
          </a:xfrm>
          <a:prstGeom prst="rect">
            <a:avLst/>
          </a:prstGeom>
          <a:solidFill>
            <a:srgbClr val="FFD966"/>
          </a:solidFill>
          <a:ln>
            <a:noFill/>
          </a:ln>
        </p:spPr>
        <p:txBody>
          <a:bodyPr spcFirstLastPara="1" wrap="square" lIns="90000" tIns="45000" rIns="90000" bIns="45000" anchor="ctr" anchorCtr="0">
            <a:normAutofit/>
          </a:bodyPr>
          <a:lstStyle/>
          <a:p>
            <a:pPr marL="0" marR="0" lvl="0" indent="0" algn="l" rtl="0">
              <a:lnSpc>
                <a:spcPct val="90000"/>
              </a:lnSpc>
              <a:spcBef>
                <a:spcPts val="0"/>
              </a:spcBef>
              <a:spcAft>
                <a:spcPts val="0"/>
              </a:spcAft>
              <a:buClr>
                <a:srgbClr val="000000"/>
              </a:buClr>
              <a:buSzPts val="4000"/>
              <a:buFont typeface="Arial"/>
              <a:buNone/>
            </a:pPr>
            <a:endParaRPr lang="en-US" sz="4000" b="0" i="0" u="none" strike="noStrike" cap="none" dirty="0">
              <a:latin typeface="Arial"/>
              <a:ea typeface="Arial"/>
              <a:cs typeface="Arial"/>
            </a:endParaRPr>
          </a:p>
        </p:txBody>
      </p:sp>
      <p:sp>
        <p:nvSpPr>
          <p:cNvPr id="483" name="Google Shape;483;p24"/>
          <p:cNvSpPr/>
          <p:nvPr/>
        </p:nvSpPr>
        <p:spPr>
          <a:xfrm>
            <a:off x="2414520" y="2256120"/>
            <a:ext cx="7361640" cy="1846080"/>
          </a:xfrm>
          <a:prstGeom prst="rect">
            <a:avLst/>
          </a:prstGeom>
        </p:spPr>
        <p:txBody>
          <a:bodyPr>
            <a:prstTxWarp prst="textPlain">
              <a:avLst/>
            </a:prstTxWarp>
          </a:bodyPr>
          <a:lstStyle/>
          <a:p>
            <a:pPr lvl="0" algn="ctr"/>
            <a:r>
              <a:rPr b="1" i="0">
                <a:ln>
                  <a:noFill/>
                </a:ln>
                <a:solidFill>
                  <a:srgbClr val="808080"/>
                </a:solidFill>
                <a:latin typeface="Verdana"/>
              </a:rPr>
              <a:t>Thank You !</a:t>
            </a:r>
          </a:p>
        </p:txBody>
      </p:sp>
      <p:sp>
        <p:nvSpPr>
          <p:cNvPr id="484" name="Google Shape;484;p24"/>
          <p:cNvSpPr/>
          <p:nvPr/>
        </p:nvSpPr>
        <p:spPr>
          <a:xfrm>
            <a:off x="3430080" y="4103280"/>
            <a:ext cx="5330520" cy="68508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6000"/>
              <a:buFont typeface="Times New Roman"/>
              <a:buNone/>
            </a:pPr>
            <a:r>
              <a:rPr lang="en-US" sz="6000" b="0" i="0" u="none" strike="noStrike" cap="none" dirty="0">
                <a:solidFill>
                  <a:srgbClr val="000000"/>
                </a:solidFill>
                <a:latin typeface="Times New Roman"/>
                <a:ea typeface="Times New Roman"/>
                <a:cs typeface="Times New Roman"/>
                <a:sym typeface="Times New Roman"/>
              </a:rPr>
              <a:t>Question?</a:t>
            </a:r>
            <a:endParaRPr sz="6000" b="0" i="0" u="none" strike="noStrike" cap="none" dirty="0">
              <a:latin typeface="Arial"/>
              <a:ea typeface="Arial"/>
              <a:cs typeface="Arial"/>
              <a:sym typeface="Arial"/>
            </a:endParaRPr>
          </a:p>
        </p:txBody>
      </p:sp>
      <p:pic>
        <p:nvPicPr>
          <p:cNvPr id="3" name="Picture 2" descr="Tập tin:Logo Trường Đại học Sư phạm Kỹ thuật Hưng Yên.svg – Wikipedia tiếng  Việt">
            <a:extLst>
              <a:ext uri="{FF2B5EF4-FFF2-40B4-BE49-F238E27FC236}">
                <a16:creationId xmlns:a16="http://schemas.microsoft.com/office/drawing/2014/main" id="{C4787701-E1E8-676D-1552-4FA45E67856E}"/>
              </a:ext>
            </a:extLst>
          </p:cNvPr>
          <p:cNvPicPr>
            <a:picLocks noChangeAspect="1"/>
          </p:cNvPicPr>
          <p:nvPr/>
        </p:nvPicPr>
        <p:blipFill>
          <a:blip r:embed="rId3"/>
          <a:stretch>
            <a:fillRect/>
          </a:stretch>
        </p:blipFill>
        <p:spPr>
          <a:xfrm>
            <a:off x="-2966" y="1844"/>
            <a:ext cx="854195" cy="867302"/>
          </a:xfrm>
          <a:prstGeom prst="rect">
            <a:avLst/>
          </a:prstGeom>
        </p:spPr>
      </p:pic>
      <p:sp>
        <p:nvSpPr>
          <p:cNvPr id="2" name="Google Shape;262;p2">
            <a:extLst>
              <a:ext uri="{FF2B5EF4-FFF2-40B4-BE49-F238E27FC236}">
                <a16:creationId xmlns:a16="http://schemas.microsoft.com/office/drawing/2014/main" id="{79C13D25-DC66-5085-AA31-2071AE8ACBFF}"/>
              </a:ext>
            </a:extLst>
          </p:cNvPr>
          <p:cNvSpPr txBox="1">
            <a:spLocks noGrp="1"/>
          </p:cNvSpPr>
          <p:nvPr>
            <p:ph type="dt" idx="10"/>
          </p:nvPr>
        </p:nvSpPr>
        <p:spPr>
          <a:xfrm>
            <a:off x="828000" y="6356520"/>
            <a:ext cx="202104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B2B2B2"/>
              </a:buClr>
              <a:buSzPts val="1400"/>
              <a:buFont typeface="Calibri"/>
              <a:buNone/>
            </a:pPr>
            <a:r>
              <a:rPr lang="en-US" sz="1400" b="0" i="0" u="none" strike="noStrike" cap="none" dirty="0">
                <a:solidFill>
                  <a:srgbClr val="B2B2B2"/>
                </a:solidFill>
                <a:latin typeface="Calibri"/>
                <a:ea typeface="Calibri"/>
                <a:cs typeface="Calibri"/>
                <a:sym typeface="Calibri"/>
              </a:rPr>
              <a:t>Date: 29/12/2025</a:t>
            </a:r>
            <a:endParaRPr sz="1400" b="0" i="0" u="none" strike="noStrike" cap="none" dirty="0">
              <a:solidFill>
                <a:srgbClr val="B2B2B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5880</TotalTime>
  <Words>495</Words>
  <Application>Microsoft Office PowerPoint</Application>
  <PresentationFormat>Widescreen</PresentationFormat>
  <Paragraphs>88</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ArialMT</vt:lpstr>
      <vt:lpstr>Calibri</vt:lpstr>
      <vt:lpstr>Calibri Light</vt:lpstr>
      <vt:lpstr>Roboto</vt:lpstr>
      <vt:lpstr>Times New Roman</vt:lpstr>
      <vt:lpstr>Verdana</vt:lpstr>
      <vt:lpstr>Office Theme</vt:lpstr>
      <vt:lpstr>PowerPoint Presentation</vt:lpstr>
      <vt:lpstr>Overview</vt:lpstr>
      <vt:lpstr>I. Tổng quan bài toán</vt:lpstr>
      <vt:lpstr>II. Mô hình học máy</vt:lpstr>
      <vt:lpstr>Mô hình Linear Regression</vt:lpstr>
      <vt:lpstr>Mô hình LSTM</vt:lpstr>
      <vt:lpstr>Mô hình Random Forest</vt:lpstr>
      <vt:lpstr>Mô hình Random Forest</vt:lpstr>
      <vt:lpstr>Metrics đánh giá</vt:lpstr>
      <vt:lpstr>Mô tả dữ liệu</vt:lpstr>
      <vt:lpstr>Phân tích dữ liệu</vt:lpstr>
      <vt:lpstr>Phân tích dữ liệu</vt:lpstr>
      <vt:lpstr>Cài đặt mô hình</vt:lpstr>
      <vt:lpstr>Kết quả mô hình</vt:lpstr>
      <vt:lpstr>Contents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Mong Nguyễn</dc:creator>
  <cp:lastModifiedBy>Tuấn Minh Lê</cp:lastModifiedBy>
  <cp:revision>14</cp:revision>
  <dcterms:created xsi:type="dcterms:W3CDTF">2025-12-16T05:54:19Z</dcterms:created>
  <dcterms:modified xsi:type="dcterms:W3CDTF">2025-12-29T01:37:49Z</dcterms:modified>
</cp:coreProperties>
</file>